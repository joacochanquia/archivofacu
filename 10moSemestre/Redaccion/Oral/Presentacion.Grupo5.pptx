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lacial Indifference Bold" charset="1" panose="00000800000000000000"/>
      <p:regular r:id="rId22"/>
    </p:embeddedFont>
    <p:embeddedFont>
      <p:font typeface="Glacial Indifference" charset="1" panose="00000000000000000000"/>
      <p:regular r:id="rId23"/>
    </p:embeddedFont>
    <p:embeddedFont>
      <p:font typeface="Poppins Italics" charset="1" panose="00000500000000000000"/>
      <p:regular r:id="rId24"/>
    </p:embeddedFont>
    <p:embeddedFont>
      <p:font typeface="DM Sans Bold" charset="1" panose="000000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Poppins Semi-Bold" charset="1" panose="00000700000000000000"/>
      <p:regular r:id="rId28"/>
    </p:embeddedFont>
    <p:embeddedFont>
      <p:font typeface="Glacial Indifference Italic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pn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media/image81.png" Type="http://schemas.openxmlformats.org/officeDocument/2006/relationships/image"/><Relationship Id="rId15" Target="../media/image82.svg" Type="http://schemas.openxmlformats.org/officeDocument/2006/relationships/image"/><Relationship Id="rId16" Target="../media/image83.png" Type="http://schemas.openxmlformats.org/officeDocument/2006/relationships/image"/><Relationship Id="rId17" Target="../media/image84.svg" Type="http://schemas.openxmlformats.org/officeDocument/2006/relationships/image"/><Relationship Id="rId18" Target="../media/image85.png" Type="http://schemas.openxmlformats.org/officeDocument/2006/relationships/image"/><Relationship Id="rId19" Target="../media/image86.svg" Type="http://schemas.openxmlformats.org/officeDocument/2006/relationships/image"/><Relationship Id="rId2" Target="../media/image57.png" Type="http://schemas.openxmlformats.org/officeDocument/2006/relationships/image"/><Relationship Id="rId20" Target="../media/image87.png" Type="http://schemas.openxmlformats.org/officeDocument/2006/relationships/image"/><Relationship Id="rId21" Target="../media/image88.sv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231370" y="7069379"/>
            <a:ext cx="1756090" cy="929131"/>
          </a:xfrm>
          <a:custGeom>
            <a:avLst/>
            <a:gdLst/>
            <a:ahLst/>
            <a:cxnLst/>
            <a:rect r="r" b="b" t="t" l="l"/>
            <a:pathLst>
              <a:path h="929131" w="1756090">
                <a:moveTo>
                  <a:pt x="0" y="0"/>
                </a:moveTo>
                <a:lnTo>
                  <a:pt x="1756090" y="0"/>
                </a:lnTo>
                <a:lnTo>
                  <a:pt x="1756090" y="929131"/>
                </a:lnTo>
                <a:lnTo>
                  <a:pt x="0" y="9291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25364" y="2801202"/>
            <a:ext cx="14154387" cy="285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5426" spc="31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SISTEMA INTEGRADO DE MONITOREO Y CONTROL PARA ACTIVIDADES MINERAS DE LITIO EN ARGENTINA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32193" y="9883567"/>
            <a:ext cx="3540730" cy="40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663" spc="-53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 de noviembre de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05527" y="1929240"/>
            <a:ext cx="7307570" cy="87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64"/>
              </a:lnSpc>
              <a:spcBef>
                <a:spcPct val="0"/>
              </a:spcBef>
            </a:pPr>
            <a:r>
              <a:rPr lang="en-US" sz="5045" spc="4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SIMCAL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3367" y="7316625"/>
            <a:ext cx="7938381" cy="8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b="true" sz="2718" spc="-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Melina Caciani Toniolo - Joaquín Chanquía - Ignacio Faccipieri - Ramiro Madera - Gabriel Ollier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3367" y="6858039"/>
            <a:ext cx="4125944" cy="44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  <a:spcBef>
                <a:spcPct val="0"/>
              </a:spcBef>
            </a:pPr>
            <a:r>
              <a:rPr lang="en-US" b="true" sz="2918" spc="-5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Consultas Mineras S.A.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131" y="7173582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734900" y="-5321541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7" y="0"/>
                </a:lnTo>
                <a:lnTo>
                  <a:pt x="7641687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798399">
            <a:off x="15477500" y="1776356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8798399">
            <a:off x="-4155848" y="-9611540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9961243">
            <a:off x="13575630" y="-3570988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5" y="0"/>
                </a:lnTo>
                <a:lnTo>
                  <a:pt x="10084215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976001">
            <a:off x="-4614341" y="5979010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661393" y="7745082"/>
            <a:ext cx="9609994" cy="71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5077" spc="269" b="tru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SOLUCIÓN: </a:t>
            </a:r>
            <a:r>
              <a:rPr lang="en-US" sz="5077" spc="26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SIMCAL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4721" y="1486507"/>
            <a:ext cx="8971669" cy="5634363"/>
            <a:chOff x="0" y="0"/>
            <a:chExt cx="11962225" cy="751248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1962225" cy="7512485"/>
              <a:chOff x="0" y="0"/>
              <a:chExt cx="2362909" cy="148394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62909" cy="1483948"/>
              </a:xfrm>
              <a:custGeom>
                <a:avLst/>
                <a:gdLst/>
                <a:ahLst/>
                <a:cxnLst/>
                <a:rect r="r" b="b" t="t" l="l"/>
                <a:pathLst>
                  <a:path h="1483948" w="2362909">
                    <a:moveTo>
                      <a:pt x="86293" y="0"/>
                    </a:moveTo>
                    <a:lnTo>
                      <a:pt x="2276616" y="0"/>
                    </a:lnTo>
                    <a:cubicBezTo>
                      <a:pt x="2324274" y="0"/>
                      <a:pt x="2362909" y="38635"/>
                      <a:pt x="2362909" y="86293"/>
                    </a:cubicBezTo>
                    <a:lnTo>
                      <a:pt x="2362909" y="1397655"/>
                    </a:lnTo>
                    <a:cubicBezTo>
                      <a:pt x="2362909" y="1420541"/>
                      <a:pt x="2353817" y="1442490"/>
                      <a:pt x="2337634" y="1458673"/>
                    </a:cubicBezTo>
                    <a:cubicBezTo>
                      <a:pt x="2321451" y="1474856"/>
                      <a:pt x="2299502" y="1483948"/>
                      <a:pt x="2276616" y="1483948"/>
                    </a:cubicBezTo>
                    <a:lnTo>
                      <a:pt x="86293" y="1483948"/>
                    </a:lnTo>
                    <a:cubicBezTo>
                      <a:pt x="63407" y="1483948"/>
                      <a:pt x="41458" y="1474856"/>
                      <a:pt x="25275" y="1458673"/>
                    </a:cubicBezTo>
                    <a:cubicBezTo>
                      <a:pt x="9092" y="1442490"/>
                      <a:pt x="0" y="1420541"/>
                      <a:pt x="0" y="1397655"/>
                    </a:cubicBezTo>
                    <a:lnTo>
                      <a:pt x="0" y="86293"/>
                    </a:lnTo>
                    <a:cubicBezTo>
                      <a:pt x="0" y="63407"/>
                      <a:pt x="9092" y="41458"/>
                      <a:pt x="25275" y="25275"/>
                    </a:cubicBezTo>
                    <a:cubicBezTo>
                      <a:pt x="41458" y="9092"/>
                      <a:pt x="63407" y="0"/>
                      <a:pt x="86293" y="0"/>
                    </a:cubicBezTo>
                    <a:close/>
                  </a:path>
                </a:pathLst>
              </a:custGeom>
              <a:solidFill>
                <a:srgbClr val="D89C6C">
                  <a:alpha val="32941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362909" cy="1531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043827" y="2708271"/>
              <a:ext cx="9683183" cy="4335438"/>
            </a:xfrm>
            <a:custGeom>
              <a:avLst/>
              <a:gdLst/>
              <a:ahLst/>
              <a:cxnLst/>
              <a:rect r="r" b="b" t="t" l="l"/>
              <a:pathLst>
                <a:path h="4335438" w="9683183">
                  <a:moveTo>
                    <a:pt x="0" y="0"/>
                  </a:moveTo>
                  <a:lnTo>
                    <a:pt x="9683183" y="0"/>
                  </a:lnTo>
                  <a:lnTo>
                    <a:pt x="9683183" y="4335438"/>
                  </a:lnTo>
                  <a:lnTo>
                    <a:pt x="0" y="4335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792" r="0" b="-127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16520"/>
              <a:ext cx="11770837" cy="222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b="true" sz="3223">
                  <a:solidFill>
                    <a:srgbClr val="15254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Impactos ambientales críticos</a:t>
              </a:r>
              <a:r>
                <a:rPr lang="en-US" sz="3223">
                  <a:solidFill>
                    <a:srgbClr val="15254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como el consumo intensivo de agua y la aceleración de la desertificación en ecosistemas altoandinos.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4780" y="8610955"/>
            <a:ext cx="17643220" cy="12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50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sistema nacional, obligatorio y en tiempo real para monitorear el impacto ambiental de cada planta.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9627" y="218297"/>
            <a:ext cx="4933526" cy="75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5350" spc="283" b="tru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PROBLEMA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53232" y="1539218"/>
            <a:ext cx="7113220" cy="5634363"/>
            <a:chOff x="0" y="0"/>
            <a:chExt cx="9484293" cy="751248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484293" cy="7512485"/>
              <a:chOff x="0" y="0"/>
              <a:chExt cx="1873441" cy="14839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73441" cy="1483948"/>
              </a:xfrm>
              <a:custGeom>
                <a:avLst/>
                <a:gdLst/>
                <a:ahLst/>
                <a:cxnLst/>
                <a:rect r="r" b="b" t="t" l="l"/>
                <a:pathLst>
                  <a:path h="1483948" w="1873441">
                    <a:moveTo>
                      <a:pt x="108838" y="0"/>
                    </a:moveTo>
                    <a:lnTo>
                      <a:pt x="1764602" y="0"/>
                    </a:lnTo>
                    <a:cubicBezTo>
                      <a:pt x="1793468" y="0"/>
                      <a:pt x="1821151" y="11467"/>
                      <a:pt x="1841563" y="31878"/>
                    </a:cubicBezTo>
                    <a:cubicBezTo>
                      <a:pt x="1861974" y="52289"/>
                      <a:pt x="1873441" y="79973"/>
                      <a:pt x="1873441" y="108838"/>
                    </a:cubicBezTo>
                    <a:lnTo>
                      <a:pt x="1873441" y="1375109"/>
                    </a:lnTo>
                    <a:cubicBezTo>
                      <a:pt x="1873441" y="1435219"/>
                      <a:pt x="1824712" y="1483948"/>
                      <a:pt x="1764602" y="1483948"/>
                    </a:cubicBezTo>
                    <a:lnTo>
                      <a:pt x="108838" y="1483948"/>
                    </a:lnTo>
                    <a:cubicBezTo>
                      <a:pt x="79973" y="1483948"/>
                      <a:pt x="52289" y="1472481"/>
                      <a:pt x="31878" y="1452070"/>
                    </a:cubicBezTo>
                    <a:cubicBezTo>
                      <a:pt x="11467" y="1431658"/>
                      <a:pt x="0" y="1403975"/>
                      <a:pt x="0" y="1375109"/>
                    </a:cubicBezTo>
                    <a:lnTo>
                      <a:pt x="0" y="108838"/>
                    </a:lnTo>
                    <a:cubicBezTo>
                      <a:pt x="0" y="79973"/>
                      <a:pt x="11467" y="52289"/>
                      <a:pt x="31878" y="31878"/>
                    </a:cubicBezTo>
                    <a:cubicBezTo>
                      <a:pt x="52289" y="11467"/>
                      <a:pt x="79973" y="0"/>
                      <a:pt x="108838" y="0"/>
                    </a:cubicBezTo>
                    <a:close/>
                  </a:path>
                </a:pathLst>
              </a:custGeom>
              <a:solidFill>
                <a:srgbClr val="D89C6C">
                  <a:alpha val="32941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873441" cy="1531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02804" y="281588"/>
              <a:ext cx="8136186" cy="1433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88"/>
                </a:lnSpc>
                <a:spcBef>
                  <a:spcPct val="0"/>
                </a:spcBef>
              </a:pPr>
              <a:r>
                <a:rPr lang="en-US" b="true" sz="3134">
                  <a:solidFill>
                    <a:srgbClr val="15254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</a:t>
              </a:r>
              <a:r>
                <a:rPr lang="en-US" b="true" sz="3134">
                  <a:solidFill>
                    <a:srgbClr val="15254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onflictos sociales</a:t>
              </a:r>
              <a:r>
                <a:rPr lang="en-US" sz="3134">
                  <a:solidFill>
                    <a:srgbClr val="15254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generados por la falta de transparencia.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941139" y="2581586"/>
              <a:ext cx="7659516" cy="4588808"/>
            </a:xfrm>
            <a:custGeom>
              <a:avLst/>
              <a:gdLst/>
              <a:ahLst/>
              <a:cxnLst/>
              <a:rect r="r" b="b" t="t" l="l"/>
              <a:pathLst>
                <a:path h="4588808" w="7659516">
                  <a:moveTo>
                    <a:pt x="0" y="0"/>
                  </a:moveTo>
                  <a:lnTo>
                    <a:pt x="7659516" y="0"/>
                  </a:lnTo>
                  <a:lnTo>
                    <a:pt x="7659516" y="4588808"/>
                  </a:lnTo>
                  <a:lnTo>
                    <a:pt x="0" y="4588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494" r="0" b="-1469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0" y="-38100"/>
            <a:ext cx="3403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Joaquín Chanquía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947" y="4364203"/>
            <a:ext cx="5141050" cy="4238108"/>
            <a:chOff x="0" y="0"/>
            <a:chExt cx="812800" cy="670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75103" y="4364203"/>
            <a:ext cx="5141050" cy="4238108"/>
            <a:chOff x="0" y="0"/>
            <a:chExt cx="812800" cy="6700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40003" y="4364203"/>
            <a:ext cx="5141050" cy="4238108"/>
            <a:chOff x="0" y="0"/>
            <a:chExt cx="812800" cy="6700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7598" y="435876"/>
            <a:ext cx="17460071" cy="235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b="true" sz="6714" spc="63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EJECUCIÓN E IMPLEMENTACIÓN DEL SIMCAL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110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32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81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73248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14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3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5766" y="5974636"/>
            <a:ext cx="4563411" cy="166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3205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205" spc="7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esplegar una infraestructura nacional de monitoreo ambiental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3922" y="5974636"/>
            <a:ext cx="4563411" cy="222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3205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205" spc="7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esarrollar una plataforma digital centralizada para la gestión de datos.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28823" y="5974636"/>
            <a:ext cx="4563411" cy="166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3205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</a:t>
            </a:r>
            <a:r>
              <a:rPr lang="en-US" sz="3205" spc="7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ementar un sistema de transparencia y acceso a la información.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311213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67793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22442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672866">
            <a:off x="-1045588" y="-178351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10799999">
            <a:off x="12715117" y="758304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0" y="-38100"/>
            <a:ext cx="3403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Joaquín Chanquía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9354559">
            <a:off x="12207201" y="5475509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521968">
            <a:off x="-1614569" y="6194806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833335" y="4331119"/>
            <a:ext cx="3229711" cy="1724510"/>
            <a:chOff x="0" y="0"/>
            <a:chExt cx="953254" cy="508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254" cy="508992"/>
            </a:xfrm>
            <a:custGeom>
              <a:avLst/>
              <a:gdLst/>
              <a:ahLst/>
              <a:cxnLst/>
              <a:rect r="r" b="b" t="t" l="l"/>
              <a:pathLst>
                <a:path h="508992" w="953254">
                  <a:moveTo>
                    <a:pt x="218136" y="0"/>
                  </a:moveTo>
                  <a:lnTo>
                    <a:pt x="735119" y="0"/>
                  </a:lnTo>
                  <a:cubicBezTo>
                    <a:pt x="792972" y="0"/>
                    <a:pt x="848455" y="22982"/>
                    <a:pt x="889364" y="63890"/>
                  </a:cubicBezTo>
                  <a:cubicBezTo>
                    <a:pt x="930272" y="104799"/>
                    <a:pt x="953254" y="160282"/>
                    <a:pt x="953254" y="218136"/>
                  </a:cubicBezTo>
                  <a:lnTo>
                    <a:pt x="953254" y="290856"/>
                  </a:lnTo>
                  <a:cubicBezTo>
                    <a:pt x="953254" y="411329"/>
                    <a:pt x="855591" y="508992"/>
                    <a:pt x="735119" y="508992"/>
                  </a:cubicBezTo>
                  <a:lnTo>
                    <a:pt x="218136" y="508992"/>
                  </a:lnTo>
                  <a:cubicBezTo>
                    <a:pt x="160282" y="508992"/>
                    <a:pt x="104799" y="486010"/>
                    <a:pt x="63890" y="445101"/>
                  </a:cubicBezTo>
                  <a:cubicBezTo>
                    <a:pt x="22982" y="404193"/>
                    <a:pt x="0" y="348709"/>
                    <a:pt x="0" y="290856"/>
                  </a:cubicBezTo>
                  <a:lnTo>
                    <a:pt x="0" y="218136"/>
                  </a:lnTo>
                  <a:cubicBezTo>
                    <a:pt x="0" y="160282"/>
                    <a:pt x="22982" y="104799"/>
                    <a:pt x="63890" y="63890"/>
                  </a:cubicBezTo>
                  <a:cubicBezTo>
                    <a:pt x="104799" y="22982"/>
                    <a:pt x="160282" y="0"/>
                    <a:pt x="218136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953254" cy="575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Diseño integral</a:t>
              </a:r>
            </a:p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del sistema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97417" y="3758213"/>
            <a:ext cx="3057133" cy="1717217"/>
            <a:chOff x="0" y="0"/>
            <a:chExt cx="902317" cy="5068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2317" cy="506839"/>
            </a:xfrm>
            <a:custGeom>
              <a:avLst/>
              <a:gdLst/>
              <a:ahLst/>
              <a:cxnLst/>
              <a:rect r="r" b="b" t="t" l="l"/>
              <a:pathLst>
                <a:path h="506839" w="902317">
                  <a:moveTo>
                    <a:pt x="230450" y="0"/>
                  </a:moveTo>
                  <a:lnTo>
                    <a:pt x="671868" y="0"/>
                  </a:lnTo>
                  <a:cubicBezTo>
                    <a:pt x="732987" y="0"/>
                    <a:pt x="791602" y="24279"/>
                    <a:pt x="834820" y="67497"/>
                  </a:cubicBezTo>
                  <a:cubicBezTo>
                    <a:pt x="878038" y="110715"/>
                    <a:pt x="902317" y="169331"/>
                    <a:pt x="902317" y="230450"/>
                  </a:cubicBezTo>
                  <a:lnTo>
                    <a:pt x="902317" y="276390"/>
                  </a:lnTo>
                  <a:cubicBezTo>
                    <a:pt x="902317" y="337509"/>
                    <a:pt x="878038" y="396124"/>
                    <a:pt x="834820" y="439342"/>
                  </a:cubicBezTo>
                  <a:cubicBezTo>
                    <a:pt x="791602" y="482560"/>
                    <a:pt x="732987" y="506839"/>
                    <a:pt x="671868" y="506839"/>
                  </a:cubicBezTo>
                  <a:lnTo>
                    <a:pt x="230450" y="506839"/>
                  </a:lnTo>
                  <a:cubicBezTo>
                    <a:pt x="169331" y="506839"/>
                    <a:pt x="110715" y="482560"/>
                    <a:pt x="67497" y="439342"/>
                  </a:cubicBezTo>
                  <a:cubicBezTo>
                    <a:pt x="24279" y="396124"/>
                    <a:pt x="0" y="337509"/>
                    <a:pt x="0" y="276390"/>
                  </a:cubicBezTo>
                  <a:lnTo>
                    <a:pt x="0" y="230450"/>
                  </a:lnTo>
                  <a:cubicBezTo>
                    <a:pt x="0" y="169331"/>
                    <a:pt x="24279" y="110715"/>
                    <a:pt x="67497" y="67497"/>
                  </a:cubicBezTo>
                  <a:cubicBezTo>
                    <a:pt x="110715" y="24279"/>
                    <a:pt x="169331" y="0"/>
                    <a:pt x="230450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02317" cy="573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Pruebas de integración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74764" y="3509212"/>
            <a:ext cx="3156068" cy="1723507"/>
            <a:chOff x="0" y="0"/>
            <a:chExt cx="931518" cy="508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518" cy="508696"/>
            </a:xfrm>
            <a:custGeom>
              <a:avLst/>
              <a:gdLst/>
              <a:ahLst/>
              <a:cxnLst/>
              <a:rect r="r" b="b" t="t" l="l"/>
              <a:pathLst>
                <a:path h="508696" w="931518">
                  <a:moveTo>
                    <a:pt x="223225" y="0"/>
                  </a:moveTo>
                  <a:lnTo>
                    <a:pt x="708293" y="0"/>
                  </a:lnTo>
                  <a:cubicBezTo>
                    <a:pt x="831577" y="0"/>
                    <a:pt x="931518" y="99941"/>
                    <a:pt x="931518" y="223225"/>
                  </a:cubicBezTo>
                  <a:lnTo>
                    <a:pt x="931518" y="285470"/>
                  </a:lnTo>
                  <a:cubicBezTo>
                    <a:pt x="931518" y="344673"/>
                    <a:pt x="908000" y="401451"/>
                    <a:pt x="866137" y="443314"/>
                  </a:cubicBezTo>
                  <a:cubicBezTo>
                    <a:pt x="824274" y="485177"/>
                    <a:pt x="767496" y="508696"/>
                    <a:pt x="708293" y="508696"/>
                  </a:cubicBezTo>
                  <a:lnTo>
                    <a:pt x="223225" y="508696"/>
                  </a:lnTo>
                  <a:cubicBezTo>
                    <a:pt x="99941" y="508696"/>
                    <a:pt x="0" y="408754"/>
                    <a:pt x="0" y="285470"/>
                  </a:cubicBezTo>
                  <a:lnTo>
                    <a:pt x="0" y="223225"/>
                  </a:lnTo>
                  <a:cubicBezTo>
                    <a:pt x="0" y="99941"/>
                    <a:pt x="99941" y="0"/>
                    <a:pt x="22322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31518" cy="575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Desarrollo de infraestructura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92051" y="6873783"/>
            <a:ext cx="3283616" cy="1720213"/>
            <a:chOff x="0" y="0"/>
            <a:chExt cx="969164" cy="5077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164" cy="507723"/>
            </a:xfrm>
            <a:custGeom>
              <a:avLst/>
              <a:gdLst/>
              <a:ahLst/>
              <a:cxnLst/>
              <a:rect r="r" b="b" t="t" l="l"/>
              <a:pathLst>
                <a:path h="507723" w="969164">
                  <a:moveTo>
                    <a:pt x="214555" y="0"/>
                  </a:moveTo>
                  <a:lnTo>
                    <a:pt x="754610" y="0"/>
                  </a:lnTo>
                  <a:cubicBezTo>
                    <a:pt x="873105" y="0"/>
                    <a:pt x="969164" y="96059"/>
                    <a:pt x="969164" y="214555"/>
                  </a:cubicBezTo>
                  <a:lnTo>
                    <a:pt x="969164" y="293169"/>
                  </a:lnTo>
                  <a:cubicBezTo>
                    <a:pt x="969164" y="411664"/>
                    <a:pt x="873105" y="507723"/>
                    <a:pt x="754610" y="507723"/>
                  </a:cubicBezTo>
                  <a:lnTo>
                    <a:pt x="214555" y="507723"/>
                  </a:lnTo>
                  <a:cubicBezTo>
                    <a:pt x="96059" y="507723"/>
                    <a:pt x="0" y="411664"/>
                    <a:pt x="0" y="293169"/>
                  </a:cubicBezTo>
                  <a:lnTo>
                    <a:pt x="0" y="214555"/>
                  </a:lnTo>
                  <a:cubicBezTo>
                    <a:pt x="0" y="96059"/>
                    <a:pt x="96059" y="0"/>
                    <a:pt x="21455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69164" cy="574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Desarrollo de la plataforma digital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true" rot="-360997">
            <a:off x="4100841" y="3776310"/>
            <a:ext cx="3136129" cy="885956"/>
          </a:xfrm>
          <a:custGeom>
            <a:avLst/>
            <a:gdLst/>
            <a:ahLst/>
            <a:cxnLst/>
            <a:rect r="r" b="b" t="t" l="l"/>
            <a:pathLst>
              <a:path h="885956" w="3136129">
                <a:moveTo>
                  <a:pt x="0" y="885956"/>
                </a:moveTo>
                <a:lnTo>
                  <a:pt x="3136128" y="885956"/>
                </a:lnTo>
                <a:lnTo>
                  <a:pt x="3136128" y="0"/>
                </a:lnTo>
                <a:lnTo>
                  <a:pt x="0" y="0"/>
                </a:lnTo>
                <a:lnTo>
                  <a:pt x="0" y="88595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662858">
            <a:off x="3851780" y="5771061"/>
            <a:ext cx="4030101" cy="1219106"/>
          </a:xfrm>
          <a:custGeom>
            <a:avLst/>
            <a:gdLst/>
            <a:ahLst/>
            <a:cxnLst/>
            <a:rect r="r" b="b" t="t" l="l"/>
            <a:pathLst>
              <a:path h="1219106" w="4030101">
                <a:moveTo>
                  <a:pt x="0" y="0"/>
                </a:moveTo>
                <a:lnTo>
                  <a:pt x="4030101" y="0"/>
                </a:lnTo>
                <a:lnTo>
                  <a:pt x="4030101" y="1219105"/>
                </a:lnTo>
                <a:lnTo>
                  <a:pt x="0" y="1219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941014">
            <a:off x="11360538" y="4844731"/>
            <a:ext cx="3033761" cy="3265301"/>
          </a:xfrm>
          <a:custGeom>
            <a:avLst/>
            <a:gdLst/>
            <a:ahLst/>
            <a:cxnLst/>
            <a:rect r="r" b="b" t="t" l="l"/>
            <a:pathLst>
              <a:path h="3265301" w="3033761">
                <a:moveTo>
                  <a:pt x="0" y="0"/>
                </a:moveTo>
                <a:lnTo>
                  <a:pt x="3033761" y="0"/>
                </a:lnTo>
                <a:lnTo>
                  <a:pt x="3033761" y="3265301"/>
                </a:lnTo>
                <a:lnTo>
                  <a:pt x="0" y="3265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-73263">
            <a:off x="10441661" y="3402390"/>
            <a:ext cx="3603729" cy="1054798"/>
          </a:xfrm>
          <a:custGeom>
            <a:avLst/>
            <a:gdLst/>
            <a:ahLst/>
            <a:cxnLst/>
            <a:rect r="r" b="b" t="t" l="l"/>
            <a:pathLst>
              <a:path h="1054798" w="3603729">
                <a:moveTo>
                  <a:pt x="0" y="1054798"/>
                </a:moveTo>
                <a:lnTo>
                  <a:pt x="3603729" y="1054798"/>
                </a:lnTo>
                <a:lnTo>
                  <a:pt x="3603729" y="0"/>
                </a:lnTo>
                <a:lnTo>
                  <a:pt x="0" y="0"/>
                </a:lnTo>
                <a:lnTo>
                  <a:pt x="0" y="1054798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-573138">
            <a:off x="17869564" y="3734443"/>
            <a:ext cx="2784185" cy="834250"/>
          </a:xfrm>
          <a:custGeom>
            <a:avLst/>
            <a:gdLst/>
            <a:ahLst/>
            <a:cxnLst/>
            <a:rect r="r" b="b" t="t" l="l"/>
            <a:pathLst>
              <a:path h="834250" w="2784185">
                <a:moveTo>
                  <a:pt x="0" y="834251"/>
                </a:moveTo>
                <a:lnTo>
                  <a:pt x="2784186" y="834251"/>
                </a:lnTo>
                <a:lnTo>
                  <a:pt x="2784186" y="0"/>
                </a:lnTo>
                <a:lnTo>
                  <a:pt x="0" y="0"/>
                </a:lnTo>
                <a:lnTo>
                  <a:pt x="0" y="834251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420384">
            <a:off x="17998618" y="4351219"/>
            <a:ext cx="2356618" cy="3078717"/>
          </a:xfrm>
          <a:custGeom>
            <a:avLst/>
            <a:gdLst/>
            <a:ahLst/>
            <a:cxnLst/>
            <a:rect r="r" b="b" t="t" l="l"/>
            <a:pathLst>
              <a:path h="3078717" w="2356618">
                <a:moveTo>
                  <a:pt x="0" y="0"/>
                </a:moveTo>
                <a:lnTo>
                  <a:pt x="2356618" y="0"/>
                </a:lnTo>
                <a:lnTo>
                  <a:pt x="2356618" y="3078717"/>
                </a:lnTo>
                <a:lnTo>
                  <a:pt x="0" y="307871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354550" y="4318775"/>
            <a:ext cx="2784185" cy="834250"/>
          </a:xfrm>
          <a:custGeom>
            <a:avLst/>
            <a:gdLst/>
            <a:ahLst/>
            <a:cxnLst/>
            <a:rect r="r" b="b" t="t" l="l"/>
            <a:pathLst>
              <a:path h="834250" w="2784185">
                <a:moveTo>
                  <a:pt x="0" y="0"/>
                </a:moveTo>
                <a:lnTo>
                  <a:pt x="2784185" y="0"/>
                </a:lnTo>
                <a:lnTo>
                  <a:pt x="2784185" y="834250"/>
                </a:lnTo>
                <a:lnTo>
                  <a:pt x="0" y="834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63489" y="1587639"/>
            <a:ext cx="15595811" cy="102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38"/>
              </a:lnSpc>
              <a:spcBef>
                <a:spcPct val="0"/>
              </a:spcBef>
            </a:pPr>
            <a:r>
              <a:rPr lang="en-US" b="true" sz="6027" spc="56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DISEÑO Y DESARROLLO DEL SISTEMA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84940" y="-38100"/>
            <a:ext cx="3403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Joaquín Chanquía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99961">
            <a:off x="13163315" y="-809176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659918">
            <a:off x="-73245" y="-3203584"/>
            <a:ext cx="7267370" cy="6791688"/>
          </a:xfrm>
          <a:custGeom>
            <a:avLst/>
            <a:gdLst/>
            <a:ahLst/>
            <a:cxnLst/>
            <a:rect r="r" b="b" t="t" l="l"/>
            <a:pathLst>
              <a:path h="6791688" w="7267370">
                <a:moveTo>
                  <a:pt x="0" y="0"/>
                </a:moveTo>
                <a:lnTo>
                  <a:pt x="7267370" y="0"/>
                </a:lnTo>
                <a:lnTo>
                  <a:pt x="7267370" y="6791688"/>
                </a:lnTo>
                <a:lnTo>
                  <a:pt x="0" y="6791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100933" y="4422250"/>
            <a:ext cx="4075112" cy="1756856"/>
            <a:chOff x="0" y="0"/>
            <a:chExt cx="1202775" cy="5185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2775" cy="518539"/>
            </a:xfrm>
            <a:custGeom>
              <a:avLst/>
              <a:gdLst/>
              <a:ahLst/>
              <a:cxnLst/>
              <a:rect r="r" b="b" t="t" l="l"/>
              <a:pathLst>
                <a:path h="518539" w="1202775">
                  <a:moveTo>
                    <a:pt x="172882" y="0"/>
                  </a:moveTo>
                  <a:lnTo>
                    <a:pt x="1029893" y="0"/>
                  </a:lnTo>
                  <a:cubicBezTo>
                    <a:pt x="1125373" y="0"/>
                    <a:pt x="1202775" y="77402"/>
                    <a:pt x="1202775" y="172882"/>
                  </a:cubicBezTo>
                  <a:lnTo>
                    <a:pt x="1202775" y="345657"/>
                  </a:lnTo>
                  <a:cubicBezTo>
                    <a:pt x="1202775" y="441137"/>
                    <a:pt x="1125373" y="518539"/>
                    <a:pt x="1029893" y="518539"/>
                  </a:cubicBezTo>
                  <a:lnTo>
                    <a:pt x="172882" y="518539"/>
                  </a:lnTo>
                  <a:cubicBezTo>
                    <a:pt x="77402" y="518539"/>
                    <a:pt x="0" y="441137"/>
                    <a:pt x="0" y="345657"/>
                  </a:cubicBezTo>
                  <a:lnTo>
                    <a:pt x="0" y="172882"/>
                  </a:lnTo>
                  <a:cubicBezTo>
                    <a:pt x="0" y="77402"/>
                    <a:pt x="77402" y="0"/>
                    <a:pt x="172882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02775" cy="585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Mantenimiento y actualizaciones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515878">
            <a:off x="-236805" y="3659260"/>
            <a:ext cx="3240607" cy="971012"/>
          </a:xfrm>
          <a:custGeom>
            <a:avLst/>
            <a:gdLst/>
            <a:ahLst/>
            <a:cxnLst/>
            <a:rect r="r" b="b" t="t" l="l"/>
            <a:pathLst>
              <a:path h="971012" w="3240607">
                <a:moveTo>
                  <a:pt x="0" y="971012"/>
                </a:moveTo>
                <a:lnTo>
                  <a:pt x="3240608" y="971012"/>
                </a:lnTo>
                <a:lnTo>
                  <a:pt x="3240608" y="0"/>
                </a:lnTo>
                <a:lnTo>
                  <a:pt x="0" y="0"/>
                </a:lnTo>
                <a:lnTo>
                  <a:pt x="0" y="97101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35200">
            <a:off x="92538" y="4145941"/>
            <a:ext cx="2670880" cy="3489273"/>
          </a:xfrm>
          <a:custGeom>
            <a:avLst/>
            <a:gdLst/>
            <a:ahLst/>
            <a:cxnLst/>
            <a:rect r="r" b="b" t="t" l="l"/>
            <a:pathLst>
              <a:path h="3489273" w="2670880">
                <a:moveTo>
                  <a:pt x="0" y="0"/>
                </a:moveTo>
                <a:lnTo>
                  <a:pt x="2670880" y="0"/>
                </a:lnTo>
                <a:lnTo>
                  <a:pt x="2670880" y="3489273"/>
                </a:lnTo>
                <a:lnTo>
                  <a:pt x="0" y="3489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776549">
            <a:off x="6958685" y="3280865"/>
            <a:ext cx="3338425" cy="1099785"/>
          </a:xfrm>
          <a:custGeom>
            <a:avLst/>
            <a:gdLst/>
            <a:ahLst/>
            <a:cxnLst/>
            <a:rect r="r" b="b" t="t" l="l"/>
            <a:pathLst>
              <a:path h="1099785" w="3338425">
                <a:moveTo>
                  <a:pt x="0" y="1099785"/>
                </a:moveTo>
                <a:lnTo>
                  <a:pt x="3338424" y="1099785"/>
                </a:lnTo>
                <a:lnTo>
                  <a:pt x="3338424" y="0"/>
                </a:lnTo>
                <a:lnTo>
                  <a:pt x="0" y="0"/>
                </a:lnTo>
                <a:lnTo>
                  <a:pt x="0" y="109978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161496">
            <a:off x="6306559" y="5376691"/>
            <a:ext cx="3638132" cy="1027772"/>
          </a:xfrm>
          <a:custGeom>
            <a:avLst/>
            <a:gdLst/>
            <a:ahLst/>
            <a:cxnLst/>
            <a:rect r="r" b="b" t="t" l="l"/>
            <a:pathLst>
              <a:path h="1027772" w="3638132">
                <a:moveTo>
                  <a:pt x="0" y="1027773"/>
                </a:moveTo>
                <a:lnTo>
                  <a:pt x="3638133" y="1027773"/>
                </a:lnTo>
                <a:lnTo>
                  <a:pt x="3638133" y="0"/>
                </a:lnTo>
                <a:lnTo>
                  <a:pt x="0" y="0"/>
                </a:lnTo>
                <a:lnTo>
                  <a:pt x="0" y="1027773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8381" y="914400"/>
            <a:ext cx="15634489" cy="103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38"/>
              </a:lnSpc>
              <a:spcBef>
                <a:spcPct val="0"/>
              </a:spcBef>
            </a:pPr>
            <a:r>
              <a:rPr lang="en-US" b="true" sz="6027" spc="566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IMPLEMENTACIÓN Y MANTENIMIENTO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9490939">
            <a:off x="-3649427" y="5426398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8367389" y="0"/>
                </a:moveTo>
                <a:lnTo>
                  <a:pt x="0" y="0"/>
                </a:lnTo>
                <a:lnTo>
                  <a:pt x="0" y="7819706"/>
                </a:lnTo>
                <a:lnTo>
                  <a:pt x="8367389" y="7819706"/>
                </a:lnTo>
                <a:lnTo>
                  <a:pt x="8367389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3143901" y="6510947"/>
            <a:ext cx="3275416" cy="1713527"/>
            <a:chOff x="0" y="0"/>
            <a:chExt cx="966744" cy="505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6744" cy="505750"/>
            </a:xfrm>
            <a:custGeom>
              <a:avLst/>
              <a:gdLst/>
              <a:ahLst/>
              <a:cxnLst/>
              <a:rect r="r" b="b" t="t" l="l"/>
              <a:pathLst>
                <a:path h="505750" w="966744">
                  <a:moveTo>
                    <a:pt x="215092" y="0"/>
                  </a:moveTo>
                  <a:lnTo>
                    <a:pt x="751652" y="0"/>
                  </a:lnTo>
                  <a:cubicBezTo>
                    <a:pt x="808698" y="0"/>
                    <a:pt x="863407" y="22661"/>
                    <a:pt x="903745" y="62999"/>
                  </a:cubicBezTo>
                  <a:cubicBezTo>
                    <a:pt x="944082" y="103336"/>
                    <a:pt x="966744" y="158046"/>
                    <a:pt x="966744" y="215092"/>
                  </a:cubicBezTo>
                  <a:lnTo>
                    <a:pt x="966744" y="290658"/>
                  </a:lnTo>
                  <a:cubicBezTo>
                    <a:pt x="966744" y="347704"/>
                    <a:pt x="944082" y="402414"/>
                    <a:pt x="903745" y="442751"/>
                  </a:cubicBezTo>
                  <a:cubicBezTo>
                    <a:pt x="863407" y="483089"/>
                    <a:pt x="808698" y="505750"/>
                    <a:pt x="751652" y="505750"/>
                  </a:cubicBezTo>
                  <a:lnTo>
                    <a:pt x="215092" y="505750"/>
                  </a:lnTo>
                  <a:cubicBezTo>
                    <a:pt x="158046" y="505750"/>
                    <a:pt x="103336" y="483089"/>
                    <a:pt x="62999" y="442751"/>
                  </a:cubicBezTo>
                  <a:cubicBezTo>
                    <a:pt x="22661" y="402414"/>
                    <a:pt x="0" y="347704"/>
                    <a:pt x="0" y="290658"/>
                  </a:cubicBezTo>
                  <a:lnTo>
                    <a:pt x="0" y="215092"/>
                  </a:lnTo>
                  <a:cubicBezTo>
                    <a:pt x="0" y="158046"/>
                    <a:pt x="22661" y="103336"/>
                    <a:pt x="62999" y="62999"/>
                  </a:cubicBezTo>
                  <a:cubicBezTo>
                    <a:pt x="103336" y="22661"/>
                    <a:pt x="158046" y="0"/>
                    <a:pt x="215092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66744" cy="57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Capacitación de personal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143901" y="3037544"/>
            <a:ext cx="3496642" cy="1620960"/>
            <a:chOff x="0" y="0"/>
            <a:chExt cx="1032039" cy="4784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2039" cy="478429"/>
            </a:xfrm>
            <a:custGeom>
              <a:avLst/>
              <a:gdLst/>
              <a:ahLst/>
              <a:cxnLst/>
              <a:rect r="r" b="b" t="t" l="l"/>
              <a:pathLst>
                <a:path h="478429" w="1032039">
                  <a:moveTo>
                    <a:pt x="201483" y="0"/>
                  </a:moveTo>
                  <a:lnTo>
                    <a:pt x="830556" y="0"/>
                  </a:lnTo>
                  <a:cubicBezTo>
                    <a:pt x="941832" y="0"/>
                    <a:pt x="1032039" y="90207"/>
                    <a:pt x="1032039" y="201483"/>
                  </a:cubicBezTo>
                  <a:lnTo>
                    <a:pt x="1032039" y="276945"/>
                  </a:lnTo>
                  <a:cubicBezTo>
                    <a:pt x="1032039" y="330382"/>
                    <a:pt x="1010811" y="381630"/>
                    <a:pt x="973026" y="419416"/>
                  </a:cubicBezTo>
                  <a:cubicBezTo>
                    <a:pt x="935241" y="457201"/>
                    <a:pt x="883993" y="478429"/>
                    <a:pt x="830556" y="478429"/>
                  </a:cubicBezTo>
                  <a:lnTo>
                    <a:pt x="201483" y="478429"/>
                  </a:lnTo>
                  <a:cubicBezTo>
                    <a:pt x="148047" y="478429"/>
                    <a:pt x="96798" y="457201"/>
                    <a:pt x="59013" y="419416"/>
                  </a:cubicBezTo>
                  <a:cubicBezTo>
                    <a:pt x="21228" y="381630"/>
                    <a:pt x="0" y="330382"/>
                    <a:pt x="0" y="276945"/>
                  </a:cubicBezTo>
                  <a:lnTo>
                    <a:pt x="0" y="201483"/>
                  </a:lnTo>
                  <a:cubicBezTo>
                    <a:pt x="0" y="148047"/>
                    <a:pt x="21228" y="96798"/>
                    <a:pt x="59013" y="59013"/>
                  </a:cubicBezTo>
                  <a:cubicBezTo>
                    <a:pt x="96798" y="21228"/>
                    <a:pt x="148047" y="0"/>
                    <a:pt x="201483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32039" cy="545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sz="30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Implementación a gran escala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884940" y="-38100"/>
            <a:ext cx="3403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Joaquín Chanquía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45784" y="-1954311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34489" y="706063"/>
            <a:ext cx="15219022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ACCIÓN AMBIENTAL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354559">
            <a:off x="14081518" y="4984774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521968">
            <a:off x="-881466" y="6434495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6753672"/>
            <a:ext cx="3644310" cy="1915803"/>
            <a:chOff x="0" y="0"/>
            <a:chExt cx="1106104" cy="581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6104" cy="581476"/>
            </a:xfrm>
            <a:custGeom>
              <a:avLst/>
              <a:gdLst/>
              <a:ahLst/>
              <a:cxnLst/>
              <a:rect r="r" b="b" t="t" l="l"/>
              <a:pathLst>
                <a:path h="581476" w="1106104">
                  <a:moveTo>
                    <a:pt x="193319" y="0"/>
                  </a:moveTo>
                  <a:lnTo>
                    <a:pt x="912785" y="0"/>
                  </a:lnTo>
                  <a:cubicBezTo>
                    <a:pt x="964056" y="0"/>
                    <a:pt x="1013228" y="20367"/>
                    <a:pt x="1049482" y="56622"/>
                  </a:cubicBezTo>
                  <a:cubicBezTo>
                    <a:pt x="1085737" y="92876"/>
                    <a:pt x="1106104" y="142048"/>
                    <a:pt x="1106104" y="193319"/>
                  </a:cubicBezTo>
                  <a:lnTo>
                    <a:pt x="1106104" y="388157"/>
                  </a:lnTo>
                  <a:cubicBezTo>
                    <a:pt x="1106104" y="494924"/>
                    <a:pt x="1019552" y="581476"/>
                    <a:pt x="912785" y="581476"/>
                  </a:cubicBezTo>
                  <a:lnTo>
                    <a:pt x="193319" y="581476"/>
                  </a:lnTo>
                  <a:cubicBezTo>
                    <a:pt x="86552" y="581476"/>
                    <a:pt x="0" y="494924"/>
                    <a:pt x="0" y="388157"/>
                  </a:cubicBezTo>
                  <a:lnTo>
                    <a:pt x="0" y="193319"/>
                  </a:lnTo>
                  <a:cubicBezTo>
                    <a:pt x="0" y="86552"/>
                    <a:pt x="86552" y="0"/>
                    <a:pt x="1933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06104" cy="648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88"/>
                </a:lnSpc>
                <a:spcBef>
                  <a:spcPct val="0"/>
                </a:spcBef>
              </a:pPr>
              <a:r>
                <a:rPr lang="en-US" b="true" sz="3134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Adquisición y transmisión de datos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48556" y="6753672"/>
            <a:ext cx="3503646" cy="1893617"/>
            <a:chOff x="0" y="0"/>
            <a:chExt cx="1063411" cy="5747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3411" cy="574742"/>
            </a:xfrm>
            <a:custGeom>
              <a:avLst/>
              <a:gdLst/>
              <a:ahLst/>
              <a:cxnLst/>
              <a:rect r="r" b="b" t="t" l="l"/>
              <a:pathLst>
                <a:path h="574742" w="1063411">
                  <a:moveTo>
                    <a:pt x="201080" y="0"/>
                  </a:moveTo>
                  <a:lnTo>
                    <a:pt x="862330" y="0"/>
                  </a:lnTo>
                  <a:cubicBezTo>
                    <a:pt x="973384" y="0"/>
                    <a:pt x="1063411" y="90027"/>
                    <a:pt x="1063411" y="201080"/>
                  </a:cubicBezTo>
                  <a:lnTo>
                    <a:pt x="1063411" y="373661"/>
                  </a:lnTo>
                  <a:cubicBezTo>
                    <a:pt x="1063411" y="426991"/>
                    <a:pt x="1042225" y="478137"/>
                    <a:pt x="1004516" y="515847"/>
                  </a:cubicBezTo>
                  <a:cubicBezTo>
                    <a:pt x="966806" y="553557"/>
                    <a:pt x="915660" y="574742"/>
                    <a:pt x="862330" y="574742"/>
                  </a:cubicBezTo>
                  <a:lnTo>
                    <a:pt x="201080" y="574742"/>
                  </a:lnTo>
                  <a:cubicBezTo>
                    <a:pt x="90027" y="574742"/>
                    <a:pt x="0" y="484715"/>
                    <a:pt x="0" y="373661"/>
                  </a:cubicBezTo>
                  <a:lnTo>
                    <a:pt x="0" y="201080"/>
                  </a:lnTo>
                  <a:cubicBezTo>
                    <a:pt x="0" y="90027"/>
                    <a:pt x="90027" y="0"/>
                    <a:pt x="201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63411" cy="641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88"/>
                </a:lnSpc>
                <a:spcBef>
                  <a:spcPct val="0"/>
                </a:spcBef>
              </a:pPr>
              <a:r>
                <a:rPr lang="en-US" b="true" sz="3134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Activación de alertas y verificación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37496" y="6708639"/>
            <a:ext cx="3644310" cy="1938649"/>
            <a:chOff x="0" y="0"/>
            <a:chExt cx="1106104" cy="588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6104" cy="588410"/>
            </a:xfrm>
            <a:custGeom>
              <a:avLst/>
              <a:gdLst/>
              <a:ahLst/>
              <a:cxnLst/>
              <a:rect r="r" b="b" t="t" l="l"/>
              <a:pathLst>
                <a:path h="588410" w="1106104">
                  <a:moveTo>
                    <a:pt x="193319" y="0"/>
                  </a:moveTo>
                  <a:lnTo>
                    <a:pt x="912785" y="0"/>
                  </a:lnTo>
                  <a:cubicBezTo>
                    <a:pt x="964056" y="0"/>
                    <a:pt x="1013228" y="20367"/>
                    <a:pt x="1049482" y="56622"/>
                  </a:cubicBezTo>
                  <a:cubicBezTo>
                    <a:pt x="1085737" y="92876"/>
                    <a:pt x="1106104" y="142048"/>
                    <a:pt x="1106104" y="193319"/>
                  </a:cubicBezTo>
                  <a:lnTo>
                    <a:pt x="1106104" y="395091"/>
                  </a:lnTo>
                  <a:cubicBezTo>
                    <a:pt x="1106104" y="501858"/>
                    <a:pt x="1019552" y="588410"/>
                    <a:pt x="912785" y="588410"/>
                  </a:cubicBezTo>
                  <a:lnTo>
                    <a:pt x="193319" y="588410"/>
                  </a:lnTo>
                  <a:cubicBezTo>
                    <a:pt x="86552" y="588410"/>
                    <a:pt x="0" y="501858"/>
                    <a:pt x="0" y="395091"/>
                  </a:cubicBezTo>
                  <a:lnTo>
                    <a:pt x="0" y="193319"/>
                  </a:lnTo>
                  <a:cubicBezTo>
                    <a:pt x="0" y="86552"/>
                    <a:pt x="86552" y="0"/>
                    <a:pt x="1933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06104" cy="655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88"/>
                </a:lnSpc>
                <a:spcBef>
                  <a:spcPct val="0"/>
                </a:spcBef>
              </a:pPr>
              <a:r>
                <a:rPr lang="en-US" b="true" sz="3134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Procesamiento y análisis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69316" y="6764925"/>
            <a:ext cx="3585526" cy="1904550"/>
            <a:chOff x="0" y="0"/>
            <a:chExt cx="1088262" cy="578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262" cy="578060"/>
            </a:xfrm>
            <a:custGeom>
              <a:avLst/>
              <a:gdLst/>
              <a:ahLst/>
              <a:cxnLst/>
              <a:rect r="r" b="b" t="t" l="l"/>
              <a:pathLst>
                <a:path h="578060" w="1088262">
                  <a:moveTo>
                    <a:pt x="196489" y="0"/>
                  </a:moveTo>
                  <a:lnTo>
                    <a:pt x="891774" y="0"/>
                  </a:lnTo>
                  <a:cubicBezTo>
                    <a:pt x="943886" y="0"/>
                    <a:pt x="993863" y="20701"/>
                    <a:pt x="1030712" y="57550"/>
                  </a:cubicBezTo>
                  <a:cubicBezTo>
                    <a:pt x="1067561" y="94399"/>
                    <a:pt x="1088262" y="144377"/>
                    <a:pt x="1088262" y="196489"/>
                  </a:cubicBezTo>
                  <a:lnTo>
                    <a:pt x="1088262" y="381572"/>
                  </a:lnTo>
                  <a:cubicBezTo>
                    <a:pt x="1088262" y="490089"/>
                    <a:pt x="1000291" y="578060"/>
                    <a:pt x="891774" y="578060"/>
                  </a:cubicBezTo>
                  <a:lnTo>
                    <a:pt x="196489" y="578060"/>
                  </a:lnTo>
                  <a:cubicBezTo>
                    <a:pt x="87971" y="578060"/>
                    <a:pt x="0" y="490089"/>
                    <a:pt x="0" y="381572"/>
                  </a:cubicBezTo>
                  <a:lnTo>
                    <a:pt x="0" y="196489"/>
                  </a:lnTo>
                  <a:cubicBezTo>
                    <a:pt x="0" y="87971"/>
                    <a:pt x="87971" y="0"/>
                    <a:pt x="1964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8262" cy="644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88"/>
                </a:lnSpc>
                <a:spcBef>
                  <a:spcPct val="0"/>
                </a:spcBef>
              </a:pPr>
              <a:r>
                <a:rPr lang="en-US" b="true" sz="3134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Visualización y reporte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547768" y="4488326"/>
            <a:ext cx="1763065" cy="1763065"/>
          </a:xfrm>
          <a:custGeom>
            <a:avLst/>
            <a:gdLst/>
            <a:ahLst/>
            <a:cxnLst/>
            <a:rect r="r" b="b" t="t" l="l"/>
            <a:pathLst>
              <a:path h="1763065" w="1763065">
                <a:moveTo>
                  <a:pt x="0" y="0"/>
                </a:moveTo>
                <a:lnTo>
                  <a:pt x="1763065" y="0"/>
                </a:lnTo>
                <a:lnTo>
                  <a:pt x="1763065" y="1763065"/>
                </a:lnTo>
                <a:lnTo>
                  <a:pt x="0" y="1763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0" id="20"/>
          <p:cNvSpPr/>
          <p:nvPr/>
        </p:nvSpPr>
        <p:spPr>
          <a:xfrm>
            <a:off x="4298412" y="5437052"/>
            <a:ext cx="10390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 flipV="true">
            <a:off x="8785312" y="5437052"/>
            <a:ext cx="9548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V="true">
            <a:off x="12849984" y="5369859"/>
            <a:ext cx="9548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6086990" y="4488326"/>
            <a:ext cx="2145322" cy="1763065"/>
          </a:xfrm>
          <a:custGeom>
            <a:avLst/>
            <a:gdLst/>
            <a:ahLst/>
            <a:cxnLst/>
            <a:rect r="r" b="b" t="t" l="l"/>
            <a:pathLst>
              <a:path h="1763065" w="2145322">
                <a:moveTo>
                  <a:pt x="0" y="0"/>
                </a:moveTo>
                <a:lnTo>
                  <a:pt x="2145322" y="0"/>
                </a:lnTo>
                <a:lnTo>
                  <a:pt x="2145322" y="1763065"/>
                </a:lnTo>
                <a:lnTo>
                  <a:pt x="0" y="1763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174028" y="4488326"/>
            <a:ext cx="1548982" cy="1763065"/>
          </a:xfrm>
          <a:custGeom>
            <a:avLst/>
            <a:gdLst/>
            <a:ahLst/>
            <a:cxnLst/>
            <a:rect r="r" b="b" t="t" l="l"/>
            <a:pathLst>
              <a:path h="1763065" w="1548982">
                <a:moveTo>
                  <a:pt x="0" y="0"/>
                </a:moveTo>
                <a:lnTo>
                  <a:pt x="1548981" y="0"/>
                </a:lnTo>
                <a:lnTo>
                  <a:pt x="1548981" y="1763065"/>
                </a:lnTo>
                <a:lnTo>
                  <a:pt x="0" y="1763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639056" y="4488326"/>
            <a:ext cx="1522647" cy="1763065"/>
          </a:xfrm>
          <a:custGeom>
            <a:avLst/>
            <a:gdLst/>
            <a:ahLst/>
            <a:cxnLst/>
            <a:rect r="r" b="b" t="t" l="l"/>
            <a:pathLst>
              <a:path h="1763065" w="1522647">
                <a:moveTo>
                  <a:pt x="0" y="0"/>
                </a:moveTo>
                <a:lnTo>
                  <a:pt x="1522646" y="0"/>
                </a:lnTo>
                <a:lnTo>
                  <a:pt x="1522646" y="1763065"/>
                </a:lnTo>
                <a:lnTo>
                  <a:pt x="0" y="1763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13910" y="2107580"/>
            <a:ext cx="15660180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spc="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continuo y automatizado</a:t>
            </a:r>
          </a:p>
          <a:p>
            <a:pPr algn="ctr">
              <a:lnSpc>
                <a:spcPts val="6019"/>
              </a:lnSpc>
            </a:pPr>
            <a:r>
              <a:rPr lang="en-US" sz="4299" spc="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garantizar actividad extractiva sostenible y transparente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867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Gabriel Ollier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2052" y="-2263844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51301">
            <a:off x="10171135" y="7121449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1931826" y="4890721"/>
            <a:ext cx="4633451" cy="4186037"/>
            <a:chOff x="0" y="0"/>
            <a:chExt cx="1032702" cy="9329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702" cy="932983"/>
            </a:xfrm>
            <a:custGeom>
              <a:avLst/>
              <a:gdLst/>
              <a:ahLst/>
              <a:cxnLst/>
              <a:rect r="r" b="b" t="t" l="l"/>
              <a:pathLst>
                <a:path h="932983" w="1032702">
                  <a:moveTo>
                    <a:pt x="98582" y="0"/>
                  </a:moveTo>
                  <a:lnTo>
                    <a:pt x="934121" y="0"/>
                  </a:lnTo>
                  <a:cubicBezTo>
                    <a:pt x="960266" y="0"/>
                    <a:pt x="985341" y="10386"/>
                    <a:pt x="1003829" y="28874"/>
                  </a:cubicBezTo>
                  <a:cubicBezTo>
                    <a:pt x="1022316" y="47362"/>
                    <a:pt x="1032702" y="72436"/>
                    <a:pt x="1032702" y="98582"/>
                  </a:cubicBezTo>
                  <a:lnTo>
                    <a:pt x="1032702" y="834401"/>
                  </a:lnTo>
                  <a:cubicBezTo>
                    <a:pt x="1032702" y="860547"/>
                    <a:pt x="1022316" y="885621"/>
                    <a:pt x="1003829" y="904109"/>
                  </a:cubicBezTo>
                  <a:cubicBezTo>
                    <a:pt x="985341" y="922596"/>
                    <a:pt x="960266" y="932983"/>
                    <a:pt x="934121" y="932983"/>
                  </a:cubicBezTo>
                  <a:lnTo>
                    <a:pt x="98582" y="932983"/>
                  </a:lnTo>
                  <a:cubicBezTo>
                    <a:pt x="72436" y="932983"/>
                    <a:pt x="47362" y="922596"/>
                    <a:pt x="28874" y="904109"/>
                  </a:cubicBezTo>
                  <a:cubicBezTo>
                    <a:pt x="10386" y="885621"/>
                    <a:pt x="0" y="860547"/>
                    <a:pt x="0" y="834401"/>
                  </a:cubicBezTo>
                  <a:lnTo>
                    <a:pt x="0" y="98582"/>
                  </a:lnTo>
                  <a:cubicBezTo>
                    <a:pt x="0" y="72436"/>
                    <a:pt x="10386" y="47362"/>
                    <a:pt x="28874" y="28874"/>
                  </a:cubicBezTo>
                  <a:cubicBezTo>
                    <a:pt x="47362" y="10386"/>
                    <a:pt x="72436" y="0"/>
                    <a:pt x="985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032702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67175" y="2986358"/>
            <a:ext cx="4607451" cy="3515398"/>
            <a:chOff x="0" y="0"/>
            <a:chExt cx="1026908" cy="783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908" cy="783511"/>
            </a:xfrm>
            <a:custGeom>
              <a:avLst/>
              <a:gdLst/>
              <a:ahLst/>
              <a:cxnLst/>
              <a:rect r="r" b="b" t="t" l="l"/>
              <a:pathLst>
                <a:path h="783511" w="1026908">
                  <a:moveTo>
                    <a:pt x="99138" y="0"/>
                  </a:moveTo>
                  <a:lnTo>
                    <a:pt x="927770" y="0"/>
                  </a:lnTo>
                  <a:cubicBezTo>
                    <a:pt x="954063" y="0"/>
                    <a:pt x="979279" y="10445"/>
                    <a:pt x="997871" y="29037"/>
                  </a:cubicBezTo>
                  <a:cubicBezTo>
                    <a:pt x="1016463" y="47629"/>
                    <a:pt x="1026908" y="72845"/>
                    <a:pt x="1026908" y="99138"/>
                  </a:cubicBezTo>
                  <a:lnTo>
                    <a:pt x="1026908" y="684373"/>
                  </a:lnTo>
                  <a:cubicBezTo>
                    <a:pt x="1026908" y="710666"/>
                    <a:pt x="1016463" y="735882"/>
                    <a:pt x="997871" y="754474"/>
                  </a:cubicBezTo>
                  <a:cubicBezTo>
                    <a:pt x="979279" y="773066"/>
                    <a:pt x="954063" y="783511"/>
                    <a:pt x="927770" y="783511"/>
                  </a:cubicBezTo>
                  <a:lnTo>
                    <a:pt x="99138" y="783511"/>
                  </a:lnTo>
                  <a:cubicBezTo>
                    <a:pt x="72845" y="783511"/>
                    <a:pt x="47629" y="773066"/>
                    <a:pt x="29037" y="754474"/>
                  </a:cubicBezTo>
                  <a:cubicBezTo>
                    <a:pt x="10445" y="735882"/>
                    <a:pt x="0" y="710666"/>
                    <a:pt x="0" y="684373"/>
                  </a:cubicBezTo>
                  <a:lnTo>
                    <a:pt x="0" y="99138"/>
                  </a:lnTo>
                  <a:cubicBezTo>
                    <a:pt x="0" y="72845"/>
                    <a:pt x="10445" y="47629"/>
                    <a:pt x="29037" y="29037"/>
                  </a:cubicBezTo>
                  <a:cubicBezTo>
                    <a:pt x="47629" y="10445"/>
                    <a:pt x="72845" y="0"/>
                    <a:pt x="991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26908" cy="773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02795" y="4936417"/>
            <a:ext cx="4673819" cy="4186037"/>
            <a:chOff x="0" y="0"/>
            <a:chExt cx="1041700" cy="932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700" cy="932983"/>
            </a:xfrm>
            <a:custGeom>
              <a:avLst/>
              <a:gdLst/>
              <a:ahLst/>
              <a:cxnLst/>
              <a:rect r="r" b="b" t="t" l="l"/>
              <a:pathLst>
                <a:path h="932983" w="1041700">
                  <a:moveTo>
                    <a:pt x="97730" y="0"/>
                  </a:moveTo>
                  <a:lnTo>
                    <a:pt x="943970" y="0"/>
                  </a:lnTo>
                  <a:cubicBezTo>
                    <a:pt x="997944" y="0"/>
                    <a:pt x="1041700" y="43755"/>
                    <a:pt x="1041700" y="97730"/>
                  </a:cubicBezTo>
                  <a:lnTo>
                    <a:pt x="1041700" y="835253"/>
                  </a:lnTo>
                  <a:cubicBezTo>
                    <a:pt x="1041700" y="889228"/>
                    <a:pt x="997944" y="932983"/>
                    <a:pt x="943970" y="932983"/>
                  </a:cubicBezTo>
                  <a:lnTo>
                    <a:pt x="97730" y="932983"/>
                  </a:lnTo>
                  <a:cubicBezTo>
                    <a:pt x="43755" y="932983"/>
                    <a:pt x="0" y="889228"/>
                    <a:pt x="0" y="835253"/>
                  </a:cubicBezTo>
                  <a:lnTo>
                    <a:pt x="0" y="97730"/>
                  </a:lnTo>
                  <a:cubicBezTo>
                    <a:pt x="0" y="43755"/>
                    <a:pt x="43755" y="0"/>
                    <a:pt x="977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041700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049769" y="285750"/>
            <a:ext cx="8551821" cy="121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41"/>
              </a:lnSpc>
            </a:pPr>
            <a:r>
              <a:rPr lang="en-US" sz="7029" spc="66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PARAMETROS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5921" y="1267123"/>
            <a:ext cx="9626750" cy="141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79"/>
              </a:lnSpc>
            </a:pPr>
            <a:r>
              <a:rPr lang="en-US" b="true" sz="8271" spc="7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MONITOREADOS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1949648" y="4899478"/>
            <a:ext cx="4615629" cy="1066381"/>
          </a:xfrm>
          <a:custGeom>
            <a:avLst/>
            <a:gdLst/>
            <a:ahLst/>
            <a:cxnLst/>
            <a:rect r="r" b="b" t="t" l="l"/>
            <a:pathLst>
              <a:path h="1066381" w="4615629">
                <a:moveTo>
                  <a:pt x="0" y="0"/>
                </a:moveTo>
                <a:lnTo>
                  <a:pt x="4615629" y="0"/>
                </a:lnTo>
                <a:lnTo>
                  <a:pt x="4615629" y="1066381"/>
                </a:lnTo>
                <a:lnTo>
                  <a:pt x="0" y="1066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6867175" y="2986358"/>
            <a:ext cx="4607451" cy="1064492"/>
          </a:xfrm>
          <a:custGeom>
            <a:avLst/>
            <a:gdLst/>
            <a:ahLst/>
            <a:cxnLst/>
            <a:rect r="r" b="b" t="t" l="l"/>
            <a:pathLst>
              <a:path h="1064492" w="4607451">
                <a:moveTo>
                  <a:pt x="0" y="0"/>
                </a:moveTo>
                <a:lnTo>
                  <a:pt x="4607451" y="0"/>
                </a:lnTo>
                <a:lnTo>
                  <a:pt x="4607451" y="1064492"/>
                </a:lnTo>
                <a:lnTo>
                  <a:pt x="0" y="1064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802795" y="4886433"/>
            <a:ext cx="4672090" cy="1079426"/>
          </a:xfrm>
          <a:custGeom>
            <a:avLst/>
            <a:gdLst/>
            <a:ahLst/>
            <a:cxnLst/>
            <a:rect r="r" b="b" t="t" l="l"/>
            <a:pathLst>
              <a:path h="1079426" w="4672090">
                <a:moveTo>
                  <a:pt x="0" y="0"/>
                </a:moveTo>
                <a:lnTo>
                  <a:pt x="4672090" y="0"/>
                </a:lnTo>
                <a:lnTo>
                  <a:pt x="4672090" y="1079426"/>
                </a:lnTo>
                <a:lnTo>
                  <a:pt x="0" y="1079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65151" y="5083196"/>
            <a:ext cx="4904004" cy="139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9"/>
              </a:lnSpc>
            </a:pPr>
            <a:r>
              <a:rPr lang="en-US" b="true" sz="4042" spc="169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BIODIVERSIDAD</a:t>
            </a:r>
          </a:p>
          <a:p>
            <a:pPr algn="ctr">
              <a:lnSpc>
                <a:spcPts val="56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332819" y="3206442"/>
            <a:ext cx="3804269" cy="128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SUELO</a:t>
            </a:r>
          </a:p>
          <a:p>
            <a:pPr algn="ctr">
              <a:lnSpc>
                <a:spcPts val="51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439134" y="5156500"/>
            <a:ext cx="359678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AGUA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18164" y="6174946"/>
            <a:ext cx="4660775" cy="260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2"/>
              </a:lnSpc>
            </a:pPr>
            <a:r>
              <a:rPr lang="en-US" sz="3709" spc="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Cobertura vegetal</a:t>
            </a:r>
          </a:p>
          <a:p>
            <a:pPr algn="ctr">
              <a:lnSpc>
                <a:spcPts val="5192"/>
              </a:lnSpc>
            </a:pPr>
            <a:r>
              <a:rPr lang="en-US" sz="3709" spc="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 de fauna</a:t>
            </a:r>
          </a:p>
          <a:p>
            <a:pPr algn="ctr">
              <a:lnSpc>
                <a:spcPts val="5192"/>
              </a:lnSpc>
            </a:pPr>
            <a:r>
              <a:rPr lang="en-US" sz="3709" spc="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Presencia de especies locales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21625" y="4225699"/>
            <a:ext cx="3898551" cy="280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Humedad</a:t>
            </a:r>
          </a:p>
          <a:p>
            <a:pPr algn="ctr">
              <a:lnSpc>
                <a:spcPts val="5599"/>
              </a:lnSpc>
            </a:pPr>
            <a:r>
              <a:rPr lang="en-US" sz="3999" spc="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Salinidad</a:t>
            </a:r>
          </a:p>
          <a:p>
            <a:pPr algn="ctr">
              <a:lnSpc>
                <a:spcPts val="5599"/>
              </a:lnSpc>
            </a:pPr>
            <a:r>
              <a:rPr lang="en-US" sz="3999" spc="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Conductividad</a:t>
            </a:r>
          </a:p>
          <a:p>
            <a:pPr algn="ctr">
              <a:lnSpc>
                <a:spcPts val="557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870242" y="5936124"/>
            <a:ext cx="4606373" cy="316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sz="3606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Nivel de agua en acuíferos</a:t>
            </a:r>
          </a:p>
          <a:p>
            <a:pPr algn="ctr">
              <a:lnSpc>
                <a:spcPts val="5049"/>
              </a:lnSpc>
            </a:pPr>
            <a:r>
              <a:rPr lang="en-US" sz="3606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Calidad del agua</a:t>
            </a:r>
          </a:p>
          <a:p>
            <a:pPr algn="ctr">
              <a:lnSpc>
                <a:spcPts val="5049"/>
              </a:lnSpc>
            </a:pPr>
            <a:r>
              <a:rPr lang="en-US" sz="3606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Volumen de extracción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446812" y="784176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10452176">
            <a:off x="13663768" y="-3511854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2"/>
                </a:lnTo>
                <a:lnTo>
                  <a:pt x="0" y="4884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6900495" y="6748490"/>
            <a:ext cx="4607451" cy="3339177"/>
            <a:chOff x="0" y="0"/>
            <a:chExt cx="1026908" cy="7442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6908" cy="744235"/>
            </a:xfrm>
            <a:custGeom>
              <a:avLst/>
              <a:gdLst/>
              <a:ahLst/>
              <a:cxnLst/>
              <a:rect r="r" b="b" t="t" l="l"/>
              <a:pathLst>
                <a:path h="744235" w="1026908">
                  <a:moveTo>
                    <a:pt x="99138" y="0"/>
                  </a:moveTo>
                  <a:lnTo>
                    <a:pt x="927770" y="0"/>
                  </a:lnTo>
                  <a:cubicBezTo>
                    <a:pt x="954063" y="0"/>
                    <a:pt x="979279" y="10445"/>
                    <a:pt x="997871" y="29037"/>
                  </a:cubicBezTo>
                  <a:cubicBezTo>
                    <a:pt x="1016463" y="47629"/>
                    <a:pt x="1026908" y="72845"/>
                    <a:pt x="1026908" y="99138"/>
                  </a:cubicBezTo>
                  <a:lnTo>
                    <a:pt x="1026908" y="645097"/>
                  </a:lnTo>
                  <a:cubicBezTo>
                    <a:pt x="1026908" y="671390"/>
                    <a:pt x="1016463" y="696606"/>
                    <a:pt x="997871" y="715198"/>
                  </a:cubicBezTo>
                  <a:cubicBezTo>
                    <a:pt x="979279" y="733790"/>
                    <a:pt x="954063" y="744235"/>
                    <a:pt x="927770" y="744235"/>
                  </a:cubicBezTo>
                  <a:lnTo>
                    <a:pt x="99138" y="744235"/>
                  </a:lnTo>
                  <a:cubicBezTo>
                    <a:pt x="72845" y="744235"/>
                    <a:pt x="47629" y="733790"/>
                    <a:pt x="29037" y="715198"/>
                  </a:cubicBezTo>
                  <a:cubicBezTo>
                    <a:pt x="10445" y="696606"/>
                    <a:pt x="0" y="671390"/>
                    <a:pt x="0" y="645097"/>
                  </a:cubicBezTo>
                  <a:lnTo>
                    <a:pt x="0" y="99138"/>
                  </a:lnTo>
                  <a:cubicBezTo>
                    <a:pt x="0" y="72845"/>
                    <a:pt x="10445" y="47629"/>
                    <a:pt x="29037" y="29037"/>
                  </a:cubicBezTo>
                  <a:cubicBezTo>
                    <a:pt x="47629" y="10445"/>
                    <a:pt x="72845" y="0"/>
                    <a:pt x="991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026908" cy="73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10800000">
            <a:off x="6900495" y="6748490"/>
            <a:ext cx="4607451" cy="1064492"/>
          </a:xfrm>
          <a:custGeom>
            <a:avLst/>
            <a:gdLst/>
            <a:ahLst/>
            <a:cxnLst/>
            <a:rect r="r" b="b" t="t" l="l"/>
            <a:pathLst>
              <a:path h="1064492" w="4607451">
                <a:moveTo>
                  <a:pt x="0" y="0"/>
                </a:moveTo>
                <a:lnTo>
                  <a:pt x="4607450" y="0"/>
                </a:lnTo>
                <a:lnTo>
                  <a:pt x="4607450" y="1064492"/>
                </a:lnTo>
                <a:lnTo>
                  <a:pt x="0" y="1064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66139" y="6968573"/>
            <a:ext cx="3804269" cy="6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26112" y="7765562"/>
            <a:ext cx="5089576" cy="327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spc="8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Humedad</a:t>
            </a:r>
          </a:p>
          <a:p>
            <a:pPr algn="ctr">
              <a:lnSpc>
                <a:spcPts val="5459"/>
              </a:lnSpc>
            </a:pPr>
            <a:r>
              <a:rPr lang="en-US" sz="3899" spc="8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Particulas en suspención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-38100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Gabriel Ollier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99961">
            <a:off x="13234933" y="1015148"/>
            <a:ext cx="12548754" cy="16088146"/>
          </a:xfrm>
          <a:custGeom>
            <a:avLst/>
            <a:gdLst/>
            <a:ahLst/>
            <a:cxnLst/>
            <a:rect r="r" b="b" t="t" l="l"/>
            <a:pathLst>
              <a:path h="16088146" w="12548754">
                <a:moveTo>
                  <a:pt x="0" y="0"/>
                </a:moveTo>
                <a:lnTo>
                  <a:pt x="12548753" y="0"/>
                </a:lnTo>
                <a:lnTo>
                  <a:pt x="12548753" y="16088146"/>
                </a:lnTo>
                <a:lnTo>
                  <a:pt x="0" y="1608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25665" y="2842048"/>
            <a:ext cx="3388259" cy="2619190"/>
          </a:xfrm>
          <a:custGeom>
            <a:avLst/>
            <a:gdLst/>
            <a:ahLst/>
            <a:cxnLst/>
            <a:rect r="r" b="b" t="t" l="l"/>
            <a:pathLst>
              <a:path h="2619190" w="3388259">
                <a:moveTo>
                  <a:pt x="0" y="0"/>
                </a:moveTo>
                <a:lnTo>
                  <a:pt x="3388259" y="0"/>
                </a:lnTo>
                <a:lnTo>
                  <a:pt x="3388259" y="2619190"/>
                </a:lnTo>
                <a:lnTo>
                  <a:pt x="0" y="2619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298412" y="4151643"/>
            <a:ext cx="10390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9832701" y="4151643"/>
            <a:ext cx="10390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020551" y="1974307"/>
            <a:ext cx="1360986" cy="1412344"/>
          </a:xfrm>
          <a:custGeom>
            <a:avLst/>
            <a:gdLst/>
            <a:ahLst/>
            <a:cxnLst/>
            <a:rect r="r" b="b" t="t" l="l"/>
            <a:pathLst>
              <a:path h="1412344" w="1360986">
                <a:moveTo>
                  <a:pt x="0" y="0"/>
                </a:moveTo>
                <a:lnTo>
                  <a:pt x="1360986" y="0"/>
                </a:lnTo>
                <a:lnTo>
                  <a:pt x="1360986" y="1412345"/>
                </a:lnTo>
                <a:lnTo>
                  <a:pt x="0" y="14123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595000" y="7653703"/>
            <a:ext cx="8027019" cy="1695868"/>
            <a:chOff x="0" y="0"/>
            <a:chExt cx="2369187" cy="5005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9187" cy="500538"/>
            </a:xfrm>
            <a:custGeom>
              <a:avLst/>
              <a:gdLst/>
              <a:ahLst/>
              <a:cxnLst/>
              <a:rect r="r" b="b" t="t" l="l"/>
              <a:pathLst>
                <a:path h="500538" w="2369187">
                  <a:moveTo>
                    <a:pt x="87768" y="0"/>
                  </a:moveTo>
                  <a:lnTo>
                    <a:pt x="2281419" y="0"/>
                  </a:lnTo>
                  <a:cubicBezTo>
                    <a:pt x="2304696" y="0"/>
                    <a:pt x="2327020" y="9247"/>
                    <a:pt x="2343480" y="25707"/>
                  </a:cubicBezTo>
                  <a:cubicBezTo>
                    <a:pt x="2359940" y="42166"/>
                    <a:pt x="2369187" y="64490"/>
                    <a:pt x="2369187" y="87768"/>
                  </a:cubicBezTo>
                  <a:lnTo>
                    <a:pt x="2369187" y="412770"/>
                  </a:lnTo>
                  <a:cubicBezTo>
                    <a:pt x="2369187" y="436047"/>
                    <a:pt x="2359940" y="458371"/>
                    <a:pt x="2343480" y="474831"/>
                  </a:cubicBezTo>
                  <a:cubicBezTo>
                    <a:pt x="2327020" y="491291"/>
                    <a:pt x="2304696" y="500538"/>
                    <a:pt x="2281419" y="500538"/>
                  </a:cubicBezTo>
                  <a:lnTo>
                    <a:pt x="87768" y="500538"/>
                  </a:lnTo>
                  <a:cubicBezTo>
                    <a:pt x="64490" y="500538"/>
                    <a:pt x="42166" y="491291"/>
                    <a:pt x="25707" y="474831"/>
                  </a:cubicBezTo>
                  <a:cubicBezTo>
                    <a:pt x="9247" y="458371"/>
                    <a:pt x="0" y="436047"/>
                    <a:pt x="0" y="412770"/>
                  </a:cubicBezTo>
                  <a:lnTo>
                    <a:pt x="0" y="87768"/>
                  </a:lnTo>
                  <a:cubicBezTo>
                    <a:pt x="0" y="64490"/>
                    <a:pt x="9247" y="42166"/>
                    <a:pt x="25707" y="25707"/>
                  </a:cubicBezTo>
                  <a:cubicBezTo>
                    <a:pt x="42166" y="9247"/>
                    <a:pt x="64490" y="0"/>
                    <a:pt x="877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AC251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2369187" cy="605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48"/>
                </a:lnSpc>
                <a:spcBef>
                  <a:spcPct val="0"/>
                </a:spcBef>
              </a:pPr>
              <a:r>
                <a:rPr lang="en-US" b="true" sz="5034">
                  <a:solidFill>
                    <a:srgbClr val="AC25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Pérdida de licencia social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833811" y="2357430"/>
            <a:ext cx="3155442" cy="3103808"/>
          </a:xfrm>
          <a:custGeom>
            <a:avLst/>
            <a:gdLst/>
            <a:ahLst/>
            <a:cxnLst/>
            <a:rect r="r" b="b" t="t" l="l"/>
            <a:pathLst>
              <a:path h="3103808" w="3155442">
                <a:moveTo>
                  <a:pt x="0" y="0"/>
                </a:moveTo>
                <a:lnTo>
                  <a:pt x="3155442" y="0"/>
                </a:lnTo>
                <a:lnTo>
                  <a:pt x="3155442" y="3103808"/>
                </a:lnTo>
                <a:lnTo>
                  <a:pt x="0" y="31038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75551" y="3386652"/>
            <a:ext cx="3296633" cy="1744219"/>
          </a:xfrm>
          <a:custGeom>
            <a:avLst/>
            <a:gdLst/>
            <a:ahLst/>
            <a:cxnLst/>
            <a:rect r="r" b="b" t="t" l="l"/>
            <a:pathLst>
              <a:path h="1744219" w="3296633">
                <a:moveTo>
                  <a:pt x="0" y="0"/>
                </a:moveTo>
                <a:lnTo>
                  <a:pt x="3296633" y="0"/>
                </a:lnTo>
                <a:lnTo>
                  <a:pt x="3296633" y="1744218"/>
                </a:lnTo>
                <a:lnTo>
                  <a:pt x="0" y="1744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14762" y="493118"/>
            <a:ext cx="11310930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DESCONFIANZA Y CONFLICTO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" y="5507086"/>
            <a:ext cx="4587359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Opacidad de la información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 datos ocultos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17013" y="5707378"/>
            <a:ext cx="2789039" cy="54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  <a:spcBef>
                <a:spcPct val="0"/>
              </a:spcBef>
            </a:pPr>
            <a:r>
              <a:rPr lang="en-US" sz="319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Conflicto activo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26937" y="5507086"/>
            <a:ext cx="516314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Descontento social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Desconfianza hacia la empresa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50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Ignacio Faccipieri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90950" y="-2033784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151301">
            <a:off x="11164674" y="6546853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446812" y="784176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452176">
            <a:off x="15012576" y="-275968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3643046" y="4256088"/>
            <a:ext cx="4673819" cy="3694045"/>
            <a:chOff x="0" y="0"/>
            <a:chExt cx="1041700" cy="823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700" cy="823328"/>
            </a:xfrm>
            <a:custGeom>
              <a:avLst/>
              <a:gdLst/>
              <a:ahLst/>
              <a:cxnLst/>
              <a:rect r="r" b="b" t="t" l="l"/>
              <a:pathLst>
                <a:path h="823328" w="1041700">
                  <a:moveTo>
                    <a:pt x="97730" y="0"/>
                  </a:moveTo>
                  <a:lnTo>
                    <a:pt x="943970" y="0"/>
                  </a:lnTo>
                  <a:cubicBezTo>
                    <a:pt x="997944" y="0"/>
                    <a:pt x="1041700" y="43755"/>
                    <a:pt x="1041700" y="97730"/>
                  </a:cubicBezTo>
                  <a:lnTo>
                    <a:pt x="1041700" y="725598"/>
                  </a:lnTo>
                  <a:cubicBezTo>
                    <a:pt x="1041700" y="779573"/>
                    <a:pt x="997944" y="823328"/>
                    <a:pt x="943970" y="823328"/>
                  </a:cubicBezTo>
                  <a:lnTo>
                    <a:pt x="97730" y="823328"/>
                  </a:lnTo>
                  <a:cubicBezTo>
                    <a:pt x="43755" y="823328"/>
                    <a:pt x="0" y="779573"/>
                    <a:pt x="0" y="725598"/>
                  </a:cubicBezTo>
                  <a:lnTo>
                    <a:pt x="0" y="97730"/>
                  </a:lnTo>
                  <a:cubicBezTo>
                    <a:pt x="0" y="43755"/>
                    <a:pt x="43755" y="0"/>
                    <a:pt x="977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41700" cy="813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3643046" y="4177529"/>
            <a:ext cx="4672090" cy="1079426"/>
          </a:xfrm>
          <a:custGeom>
            <a:avLst/>
            <a:gdLst/>
            <a:ahLst/>
            <a:cxnLst/>
            <a:rect r="r" b="b" t="t" l="l"/>
            <a:pathLst>
              <a:path h="1079426" w="4672090">
                <a:moveTo>
                  <a:pt x="0" y="0"/>
                </a:moveTo>
                <a:lnTo>
                  <a:pt x="4672090" y="0"/>
                </a:lnTo>
                <a:lnTo>
                  <a:pt x="4672090" y="1079426"/>
                </a:lnTo>
                <a:lnTo>
                  <a:pt x="0" y="107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7362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373404" y="4256088"/>
            <a:ext cx="4673819" cy="3808121"/>
            <a:chOff x="0" y="0"/>
            <a:chExt cx="1041700" cy="8487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700" cy="848753"/>
            </a:xfrm>
            <a:custGeom>
              <a:avLst/>
              <a:gdLst/>
              <a:ahLst/>
              <a:cxnLst/>
              <a:rect r="r" b="b" t="t" l="l"/>
              <a:pathLst>
                <a:path h="848753" w="1041700">
                  <a:moveTo>
                    <a:pt x="97730" y="0"/>
                  </a:moveTo>
                  <a:lnTo>
                    <a:pt x="943970" y="0"/>
                  </a:lnTo>
                  <a:cubicBezTo>
                    <a:pt x="997944" y="0"/>
                    <a:pt x="1041700" y="43755"/>
                    <a:pt x="1041700" y="97730"/>
                  </a:cubicBezTo>
                  <a:lnTo>
                    <a:pt x="1041700" y="751023"/>
                  </a:lnTo>
                  <a:cubicBezTo>
                    <a:pt x="1041700" y="804998"/>
                    <a:pt x="997944" y="848753"/>
                    <a:pt x="943970" y="848753"/>
                  </a:cubicBezTo>
                  <a:lnTo>
                    <a:pt x="97730" y="848753"/>
                  </a:lnTo>
                  <a:cubicBezTo>
                    <a:pt x="43755" y="848753"/>
                    <a:pt x="0" y="804998"/>
                    <a:pt x="0" y="751023"/>
                  </a:cubicBezTo>
                  <a:lnTo>
                    <a:pt x="0" y="97730"/>
                  </a:lnTo>
                  <a:cubicBezTo>
                    <a:pt x="0" y="43755"/>
                    <a:pt x="43755" y="0"/>
                    <a:pt x="977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041700" cy="83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9373404" y="4177529"/>
            <a:ext cx="4672090" cy="1079426"/>
          </a:xfrm>
          <a:custGeom>
            <a:avLst/>
            <a:gdLst/>
            <a:ahLst/>
            <a:cxnLst/>
            <a:rect r="r" b="b" t="t" l="l"/>
            <a:pathLst>
              <a:path h="1079426" w="4672090">
                <a:moveTo>
                  <a:pt x="0" y="0"/>
                </a:moveTo>
                <a:lnTo>
                  <a:pt x="4672089" y="0"/>
                </a:lnTo>
                <a:lnTo>
                  <a:pt x="4672089" y="1079426"/>
                </a:lnTo>
                <a:lnTo>
                  <a:pt x="0" y="107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8982" y="6732249"/>
            <a:ext cx="2524064" cy="2663920"/>
          </a:xfrm>
          <a:custGeom>
            <a:avLst/>
            <a:gdLst/>
            <a:ahLst/>
            <a:cxnLst/>
            <a:rect r="r" b="b" t="t" l="l"/>
            <a:pathLst>
              <a:path h="2663920" w="2524064">
                <a:moveTo>
                  <a:pt x="0" y="0"/>
                </a:moveTo>
                <a:lnTo>
                  <a:pt x="2524064" y="0"/>
                </a:lnTo>
                <a:lnTo>
                  <a:pt x="2524064" y="2663920"/>
                </a:lnTo>
                <a:lnTo>
                  <a:pt x="0" y="2663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71405" y="4177529"/>
            <a:ext cx="3383415" cy="2860523"/>
          </a:xfrm>
          <a:custGeom>
            <a:avLst/>
            <a:gdLst/>
            <a:ahLst/>
            <a:cxnLst/>
            <a:rect r="r" b="b" t="t" l="l"/>
            <a:pathLst>
              <a:path h="2860523" w="3383415">
                <a:moveTo>
                  <a:pt x="0" y="0"/>
                </a:moveTo>
                <a:lnTo>
                  <a:pt x="3383415" y="0"/>
                </a:lnTo>
                <a:lnTo>
                  <a:pt x="3383415" y="2860524"/>
                </a:lnTo>
                <a:lnTo>
                  <a:pt x="0" y="2860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39089" y="468239"/>
            <a:ext cx="8551821" cy="111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41"/>
              </a:lnSpc>
            </a:pPr>
            <a:r>
              <a:rPr lang="en-US" sz="6529" spc="613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0514" y="1459137"/>
            <a:ext cx="9671476" cy="244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99"/>
              </a:lnSpc>
            </a:pPr>
            <a:r>
              <a:rPr lang="en-US" b="true" sz="7071" spc="664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TRANSPARENCIA E INTERPRETACIÓN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40355" y="4366710"/>
            <a:ext cx="3775692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Capacitaciones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09628" y="5571280"/>
            <a:ext cx="4538926" cy="184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sz="3506" spc="77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Análisis e interpretación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9096" y="4366710"/>
            <a:ext cx="453892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Mesas de diálogo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0850" y="5571280"/>
            <a:ext cx="4538926" cy="184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sz="3506" spc="77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Discusiones y análisis de evidencias recolectadas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89" y="90143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Ignacio Faccipieri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8832" y="-3528987"/>
            <a:ext cx="19050326" cy="5975359"/>
            <a:chOff x="0" y="0"/>
            <a:chExt cx="5017370" cy="1573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7370" cy="1573757"/>
            </a:xfrm>
            <a:custGeom>
              <a:avLst/>
              <a:gdLst/>
              <a:ahLst/>
              <a:cxnLst/>
              <a:rect r="r" b="b" t="t" l="l"/>
              <a:pathLst>
                <a:path h="1573757" w="5017370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29652" y="4291508"/>
            <a:ext cx="1389612" cy="13896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719458">
            <a:off x="-358150" y="2036682"/>
            <a:ext cx="19305539" cy="3249078"/>
          </a:xfrm>
          <a:custGeom>
            <a:avLst/>
            <a:gdLst/>
            <a:ahLst/>
            <a:cxnLst/>
            <a:rect r="r" b="b" t="t" l="l"/>
            <a:pathLst>
              <a:path h="3249078" w="19305539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3104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84248" y="-713185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44452" y="252496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8610501" y="5500306"/>
            <a:ext cx="1389612" cy="138961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835056" y="539783"/>
            <a:ext cx="11907587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E3D8D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ANÁLISIS ECONÓMICO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201329" y="4397223"/>
            <a:ext cx="1075359" cy="1178182"/>
          </a:xfrm>
          <a:custGeom>
            <a:avLst/>
            <a:gdLst/>
            <a:ahLst/>
            <a:cxnLst/>
            <a:rect r="r" b="b" t="t" l="l"/>
            <a:pathLst>
              <a:path h="1178182" w="1075359">
                <a:moveTo>
                  <a:pt x="0" y="0"/>
                </a:moveTo>
                <a:lnTo>
                  <a:pt x="1075358" y="0"/>
                </a:lnTo>
                <a:lnTo>
                  <a:pt x="1075358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862599" y="5887914"/>
            <a:ext cx="3554043" cy="702362"/>
            <a:chOff x="0" y="0"/>
            <a:chExt cx="1078707" cy="213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8707" cy="213178"/>
            </a:xfrm>
            <a:custGeom>
              <a:avLst/>
              <a:gdLst/>
              <a:ahLst/>
              <a:cxnLst/>
              <a:rect r="r" b="b" t="t" l="l"/>
              <a:pathLst>
                <a:path h="213178" w="1078707">
                  <a:moveTo>
                    <a:pt x="106589" y="0"/>
                  </a:moveTo>
                  <a:lnTo>
                    <a:pt x="972118" y="0"/>
                  </a:lnTo>
                  <a:cubicBezTo>
                    <a:pt x="1000387" y="0"/>
                    <a:pt x="1027498" y="11230"/>
                    <a:pt x="1047488" y="31219"/>
                  </a:cubicBezTo>
                  <a:cubicBezTo>
                    <a:pt x="1067477" y="51208"/>
                    <a:pt x="1078707" y="78320"/>
                    <a:pt x="1078707" y="106589"/>
                  </a:cubicBezTo>
                  <a:lnTo>
                    <a:pt x="1078707" y="106589"/>
                  </a:lnTo>
                  <a:cubicBezTo>
                    <a:pt x="1078707" y="134858"/>
                    <a:pt x="1067477" y="161969"/>
                    <a:pt x="1047488" y="181959"/>
                  </a:cubicBezTo>
                  <a:cubicBezTo>
                    <a:pt x="1027498" y="201948"/>
                    <a:pt x="1000387" y="213178"/>
                    <a:pt x="972118" y="213178"/>
                  </a:cubicBezTo>
                  <a:lnTo>
                    <a:pt x="106589" y="213178"/>
                  </a:lnTo>
                  <a:cubicBezTo>
                    <a:pt x="78320" y="213178"/>
                    <a:pt x="51208" y="201948"/>
                    <a:pt x="31219" y="181959"/>
                  </a:cubicBezTo>
                  <a:cubicBezTo>
                    <a:pt x="11230" y="161969"/>
                    <a:pt x="0" y="134858"/>
                    <a:pt x="0" y="106589"/>
                  </a:cubicBezTo>
                  <a:lnTo>
                    <a:pt x="0" y="106589"/>
                  </a:lnTo>
                  <a:cubicBezTo>
                    <a:pt x="0" y="78320"/>
                    <a:pt x="11230" y="51208"/>
                    <a:pt x="31219" y="31219"/>
                  </a:cubicBezTo>
                  <a:cubicBezTo>
                    <a:pt x="51208" y="11230"/>
                    <a:pt x="78320" y="0"/>
                    <a:pt x="1065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78707" cy="279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Medidas Iniciales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41040" y="7032794"/>
            <a:ext cx="2677953" cy="1168987"/>
            <a:chOff x="0" y="0"/>
            <a:chExt cx="812800" cy="3548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354805"/>
            </a:xfrm>
            <a:custGeom>
              <a:avLst/>
              <a:gdLst/>
              <a:ahLst/>
              <a:cxnLst/>
              <a:rect r="r" b="b" t="t" l="l"/>
              <a:pathLst>
                <a:path h="354805" w="812800">
                  <a:moveTo>
                    <a:pt x="177403" y="0"/>
                  </a:moveTo>
                  <a:lnTo>
                    <a:pt x="635397" y="0"/>
                  </a:lnTo>
                  <a:cubicBezTo>
                    <a:pt x="733374" y="0"/>
                    <a:pt x="812800" y="79426"/>
                    <a:pt x="812800" y="177403"/>
                  </a:cubicBezTo>
                  <a:lnTo>
                    <a:pt x="812800" y="177403"/>
                  </a:lnTo>
                  <a:cubicBezTo>
                    <a:pt x="812800" y="275380"/>
                    <a:pt x="733374" y="354805"/>
                    <a:pt x="635397" y="354805"/>
                  </a:cubicBezTo>
                  <a:lnTo>
                    <a:pt x="177403" y="354805"/>
                  </a:lnTo>
                  <a:cubicBezTo>
                    <a:pt x="79426" y="354805"/>
                    <a:pt x="0" y="275380"/>
                    <a:pt x="0" y="177403"/>
                  </a:cubicBezTo>
                  <a:lnTo>
                    <a:pt x="0" y="177403"/>
                  </a:lnTo>
                  <a:cubicBezTo>
                    <a:pt x="0" y="79426"/>
                    <a:pt x="79426" y="0"/>
                    <a:pt x="1774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12800" cy="42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Valores objetivo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03159" y="7048021"/>
            <a:ext cx="2986851" cy="1168987"/>
            <a:chOff x="0" y="0"/>
            <a:chExt cx="906555" cy="354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6555" cy="354805"/>
            </a:xfrm>
            <a:custGeom>
              <a:avLst/>
              <a:gdLst/>
              <a:ahLst/>
              <a:cxnLst/>
              <a:rect r="r" b="b" t="t" l="l"/>
              <a:pathLst>
                <a:path h="354805" w="906555">
                  <a:moveTo>
                    <a:pt x="177403" y="0"/>
                  </a:moveTo>
                  <a:lnTo>
                    <a:pt x="729153" y="0"/>
                  </a:lnTo>
                  <a:cubicBezTo>
                    <a:pt x="827130" y="0"/>
                    <a:pt x="906555" y="79426"/>
                    <a:pt x="906555" y="177403"/>
                  </a:cubicBezTo>
                  <a:lnTo>
                    <a:pt x="906555" y="177403"/>
                  </a:lnTo>
                  <a:cubicBezTo>
                    <a:pt x="906555" y="275380"/>
                    <a:pt x="827130" y="354805"/>
                    <a:pt x="729153" y="354805"/>
                  </a:cubicBezTo>
                  <a:lnTo>
                    <a:pt x="177403" y="354805"/>
                  </a:lnTo>
                  <a:cubicBezTo>
                    <a:pt x="79426" y="354805"/>
                    <a:pt x="0" y="275380"/>
                    <a:pt x="0" y="177403"/>
                  </a:cubicBezTo>
                  <a:lnTo>
                    <a:pt x="0" y="177403"/>
                  </a:lnTo>
                  <a:cubicBezTo>
                    <a:pt x="0" y="79426"/>
                    <a:pt x="79426" y="0"/>
                    <a:pt x="1774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06555" cy="42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Cobro Diferenciado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00890" y="7032794"/>
            <a:ext cx="2725134" cy="1184214"/>
            <a:chOff x="0" y="0"/>
            <a:chExt cx="827120" cy="3594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7120" cy="359427"/>
            </a:xfrm>
            <a:custGeom>
              <a:avLst/>
              <a:gdLst/>
              <a:ahLst/>
              <a:cxnLst/>
              <a:rect r="r" b="b" t="t" l="l"/>
              <a:pathLst>
                <a:path h="359427" w="827120">
                  <a:moveTo>
                    <a:pt x="179714" y="0"/>
                  </a:moveTo>
                  <a:lnTo>
                    <a:pt x="647407" y="0"/>
                  </a:lnTo>
                  <a:cubicBezTo>
                    <a:pt x="695070" y="0"/>
                    <a:pt x="740780" y="18934"/>
                    <a:pt x="774483" y="52637"/>
                  </a:cubicBezTo>
                  <a:cubicBezTo>
                    <a:pt x="808186" y="86340"/>
                    <a:pt x="827120" y="132051"/>
                    <a:pt x="827120" y="179714"/>
                  </a:cubicBezTo>
                  <a:lnTo>
                    <a:pt x="827120" y="179714"/>
                  </a:lnTo>
                  <a:cubicBezTo>
                    <a:pt x="827120" y="278967"/>
                    <a:pt x="746660" y="359427"/>
                    <a:pt x="647407" y="359427"/>
                  </a:cubicBezTo>
                  <a:lnTo>
                    <a:pt x="179714" y="359427"/>
                  </a:lnTo>
                  <a:cubicBezTo>
                    <a:pt x="80461" y="359427"/>
                    <a:pt x="0" y="278967"/>
                    <a:pt x="0" y="179714"/>
                  </a:cubicBezTo>
                  <a:lnTo>
                    <a:pt x="0" y="179714"/>
                  </a:lnTo>
                  <a:cubicBezTo>
                    <a:pt x="0" y="80461"/>
                    <a:pt x="80461" y="0"/>
                    <a:pt x="1797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827120" cy="426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Comparación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42868" y="7032794"/>
            <a:ext cx="2822116" cy="1168987"/>
            <a:chOff x="0" y="0"/>
            <a:chExt cx="856556" cy="3548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6556" cy="354805"/>
            </a:xfrm>
            <a:custGeom>
              <a:avLst/>
              <a:gdLst/>
              <a:ahLst/>
              <a:cxnLst/>
              <a:rect r="r" b="b" t="t" l="l"/>
              <a:pathLst>
                <a:path h="354805" w="856556">
                  <a:moveTo>
                    <a:pt x="177403" y="0"/>
                  </a:moveTo>
                  <a:lnTo>
                    <a:pt x="679153" y="0"/>
                  </a:lnTo>
                  <a:cubicBezTo>
                    <a:pt x="777130" y="0"/>
                    <a:pt x="856556" y="79426"/>
                    <a:pt x="856556" y="177403"/>
                  </a:cubicBezTo>
                  <a:lnTo>
                    <a:pt x="856556" y="177403"/>
                  </a:lnTo>
                  <a:cubicBezTo>
                    <a:pt x="856556" y="275380"/>
                    <a:pt x="777130" y="354805"/>
                    <a:pt x="679153" y="354805"/>
                  </a:cubicBezTo>
                  <a:lnTo>
                    <a:pt x="177403" y="354805"/>
                  </a:lnTo>
                  <a:cubicBezTo>
                    <a:pt x="79426" y="354805"/>
                    <a:pt x="0" y="275380"/>
                    <a:pt x="0" y="177403"/>
                  </a:cubicBezTo>
                  <a:lnTo>
                    <a:pt x="0" y="177403"/>
                  </a:lnTo>
                  <a:cubicBezTo>
                    <a:pt x="0" y="79426"/>
                    <a:pt x="79426" y="0"/>
                    <a:pt x="1774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856556" cy="42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Sistema de Categorías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42176" y="5467909"/>
            <a:ext cx="1389612" cy="138961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1976065" y="5439290"/>
            <a:ext cx="1155723" cy="1321513"/>
          </a:xfrm>
          <a:custGeom>
            <a:avLst/>
            <a:gdLst/>
            <a:ahLst/>
            <a:cxnLst/>
            <a:rect r="r" b="b" t="t" l="l"/>
            <a:pathLst>
              <a:path h="1321513" w="1155723">
                <a:moveTo>
                  <a:pt x="0" y="0"/>
                </a:moveTo>
                <a:lnTo>
                  <a:pt x="1155723" y="0"/>
                </a:lnTo>
                <a:lnTo>
                  <a:pt x="1155723" y="1321512"/>
                </a:lnTo>
                <a:lnTo>
                  <a:pt x="0" y="1321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6" id="36"/>
          <p:cNvGrpSpPr/>
          <p:nvPr/>
        </p:nvGrpSpPr>
        <p:grpSpPr>
          <a:xfrm rot="0">
            <a:off x="1929652" y="6681568"/>
            <a:ext cx="1389612" cy="138961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056620" y="6875084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0" id="40"/>
          <p:cNvGrpSpPr/>
          <p:nvPr/>
        </p:nvGrpSpPr>
        <p:grpSpPr>
          <a:xfrm rot="0">
            <a:off x="744452" y="8385505"/>
            <a:ext cx="3790337" cy="635587"/>
            <a:chOff x="0" y="0"/>
            <a:chExt cx="1150426" cy="1929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50426" cy="192910"/>
            </a:xfrm>
            <a:custGeom>
              <a:avLst/>
              <a:gdLst/>
              <a:ahLst/>
              <a:cxnLst/>
              <a:rect r="r" b="b" t="t" l="l"/>
              <a:pathLst>
                <a:path h="192910" w="1150426">
                  <a:moveTo>
                    <a:pt x="96455" y="0"/>
                  </a:moveTo>
                  <a:lnTo>
                    <a:pt x="1053971" y="0"/>
                  </a:lnTo>
                  <a:cubicBezTo>
                    <a:pt x="1079552" y="0"/>
                    <a:pt x="1104086" y="10162"/>
                    <a:pt x="1122175" y="28251"/>
                  </a:cubicBezTo>
                  <a:cubicBezTo>
                    <a:pt x="1140264" y="46340"/>
                    <a:pt x="1150426" y="70874"/>
                    <a:pt x="1150426" y="96455"/>
                  </a:cubicBezTo>
                  <a:lnTo>
                    <a:pt x="1150426" y="96455"/>
                  </a:lnTo>
                  <a:cubicBezTo>
                    <a:pt x="1150426" y="122037"/>
                    <a:pt x="1140264" y="146570"/>
                    <a:pt x="1122175" y="164659"/>
                  </a:cubicBezTo>
                  <a:cubicBezTo>
                    <a:pt x="1104086" y="182748"/>
                    <a:pt x="1079552" y="192910"/>
                    <a:pt x="1053971" y="192910"/>
                  </a:cubicBezTo>
                  <a:lnTo>
                    <a:pt x="96455" y="192910"/>
                  </a:lnTo>
                  <a:cubicBezTo>
                    <a:pt x="70874" y="192910"/>
                    <a:pt x="46340" y="182748"/>
                    <a:pt x="28251" y="164659"/>
                  </a:cubicBezTo>
                  <a:cubicBezTo>
                    <a:pt x="10162" y="146570"/>
                    <a:pt x="0" y="122037"/>
                    <a:pt x="0" y="96455"/>
                  </a:cubicBezTo>
                  <a:lnTo>
                    <a:pt x="0" y="96455"/>
                  </a:lnTo>
                  <a:cubicBezTo>
                    <a:pt x="0" y="70874"/>
                    <a:pt x="10162" y="46340"/>
                    <a:pt x="28251" y="28251"/>
                  </a:cubicBezTo>
                  <a:cubicBezTo>
                    <a:pt x="46340" y="10162"/>
                    <a:pt x="70874" y="0"/>
                    <a:pt x="964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150426" cy="259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  <a:spcBef>
                  <a:spcPct val="0"/>
                </a:spcBef>
              </a:pPr>
              <a:r>
                <a:rPr lang="en-US" b="true" sz="3034">
                  <a:solidFill>
                    <a:srgbClr val="2537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Medidas Estimadas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68651" y="5405240"/>
            <a:ext cx="1452281" cy="145228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5564844" y="5694398"/>
            <a:ext cx="1131132" cy="987170"/>
          </a:xfrm>
          <a:custGeom>
            <a:avLst/>
            <a:gdLst/>
            <a:ahLst/>
            <a:cxnLst/>
            <a:rect r="r" b="b" t="t" l="l"/>
            <a:pathLst>
              <a:path h="987170" w="1131132">
                <a:moveTo>
                  <a:pt x="0" y="0"/>
                </a:moveTo>
                <a:lnTo>
                  <a:pt x="1131132" y="0"/>
                </a:lnTo>
                <a:lnTo>
                  <a:pt x="1131132" y="987170"/>
                </a:lnTo>
                <a:lnTo>
                  <a:pt x="0" y="9871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779325" y="5669130"/>
            <a:ext cx="1051965" cy="1051965"/>
          </a:xfrm>
          <a:custGeom>
            <a:avLst/>
            <a:gdLst/>
            <a:ahLst/>
            <a:cxnLst/>
            <a:rect r="r" b="b" t="t" l="l"/>
            <a:pathLst>
              <a:path h="1051965" w="1051965">
                <a:moveTo>
                  <a:pt x="0" y="0"/>
                </a:moveTo>
                <a:lnTo>
                  <a:pt x="1051965" y="0"/>
                </a:lnTo>
                <a:lnTo>
                  <a:pt x="1051965" y="1051965"/>
                </a:lnTo>
                <a:lnTo>
                  <a:pt x="0" y="10519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5388532" y="5467909"/>
            <a:ext cx="1389612" cy="1389612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5601645" y="5667775"/>
            <a:ext cx="989879" cy="989879"/>
          </a:xfrm>
          <a:custGeom>
            <a:avLst/>
            <a:gdLst/>
            <a:ahLst/>
            <a:cxnLst/>
            <a:rect r="r" b="b" t="t" l="l"/>
            <a:pathLst>
              <a:path h="989879" w="989879">
                <a:moveTo>
                  <a:pt x="0" y="0"/>
                </a:moveTo>
                <a:lnTo>
                  <a:pt x="989880" y="0"/>
                </a:lnTo>
                <a:lnTo>
                  <a:pt x="989880" y="989880"/>
                </a:lnTo>
                <a:lnTo>
                  <a:pt x="0" y="9898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11867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Ramiro Madera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48623" y="1898251"/>
            <a:ext cx="13523757" cy="68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8"/>
              </a:lnSpc>
              <a:spcBef>
                <a:spcPct val="0"/>
              </a:spcBef>
            </a:pPr>
            <a:r>
              <a:rPr lang="en-US" b="true" sz="4027" spc="378">
                <a:solidFill>
                  <a:srgbClr val="E3D8D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COBRO DE REGALÍAS DIFERENCIADO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5526" y="340428"/>
            <a:ext cx="10836948" cy="1757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4"/>
              </a:lnSpc>
            </a:pPr>
            <a:r>
              <a:rPr lang="en-US" b="true" sz="5067" spc="47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CREACIÓN DEL PROTOCOLO DE CUMPLIMIENTO OBLIGATORIO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5593320" y="-13086803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276067" y="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54550" y="43567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466144" y="-3563063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7835905" y="3961811"/>
            <a:ext cx="4161751" cy="1184729"/>
            <a:chOff x="0" y="0"/>
            <a:chExt cx="2565722" cy="730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9B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6290344" y="5144637"/>
            <a:ext cx="4161751" cy="1184729"/>
            <a:chOff x="0" y="0"/>
            <a:chExt cx="2565722" cy="730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9C6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35905" y="6329365"/>
            <a:ext cx="4161751" cy="1184729"/>
            <a:chOff x="0" y="0"/>
            <a:chExt cx="2565722" cy="730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75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6549119" y="7476041"/>
            <a:ext cx="4161751" cy="1184729"/>
            <a:chOff x="0" y="0"/>
            <a:chExt cx="2565722" cy="7303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9BB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5905" y="8706445"/>
            <a:ext cx="4161751" cy="1184729"/>
            <a:chOff x="0" y="0"/>
            <a:chExt cx="2565722" cy="7303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C9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6290344" y="2777082"/>
            <a:ext cx="4161751" cy="1184729"/>
            <a:chOff x="0" y="0"/>
            <a:chExt cx="2565722" cy="7303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75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98578" y="5394189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29994" y="4211336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44140" y="6578918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98578" y="7773144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29994" y="8955970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98578" y="3028483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8716" y="3114160"/>
            <a:ext cx="4569449" cy="48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Investigación jurídica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44074" y="4068400"/>
            <a:ext cx="521901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Redacción de Normativa de Obligatoriedad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9150" y="5422764"/>
            <a:ext cx="521901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Definición de sanciones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70463" y="9041648"/>
            <a:ext cx="536623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Revisión y presentación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0895" y="7811231"/>
            <a:ext cx="456944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Consulta y validación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44074" y="6533066"/>
            <a:ext cx="521901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Elaboración del Marco de Regalías Progresivas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-191388" y="9853073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Melina Caciani Toniolo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2326" y="-3700864"/>
            <a:ext cx="19050326" cy="5975359"/>
            <a:chOff x="0" y="0"/>
            <a:chExt cx="5017370" cy="1573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7370" cy="1573757"/>
            </a:xfrm>
            <a:custGeom>
              <a:avLst/>
              <a:gdLst/>
              <a:ahLst/>
              <a:cxnLst/>
              <a:rect r="r" b="b" t="t" l="l"/>
              <a:pathLst>
                <a:path h="1573757" w="5017370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4248" y="-713185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4452" y="252496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460003" y="23896"/>
            <a:ext cx="9633466" cy="192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5"/>
              </a:lnSpc>
              <a:spcBef>
                <a:spcPct val="0"/>
              </a:spcBef>
            </a:pPr>
            <a:r>
              <a:rPr lang="en-US" sz="111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166201" y="2635563"/>
            <a:ext cx="1640643" cy="1822937"/>
          </a:xfrm>
          <a:custGeom>
            <a:avLst/>
            <a:gdLst/>
            <a:ahLst/>
            <a:cxnLst/>
            <a:rect r="r" b="b" t="t" l="l"/>
            <a:pathLst>
              <a:path h="1822937" w="1640643">
                <a:moveTo>
                  <a:pt x="0" y="0"/>
                </a:moveTo>
                <a:lnTo>
                  <a:pt x="1640643" y="0"/>
                </a:lnTo>
                <a:lnTo>
                  <a:pt x="1640643" y="1822937"/>
                </a:lnTo>
                <a:lnTo>
                  <a:pt x="0" y="1822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26794" y="2397438"/>
            <a:ext cx="6264483" cy="206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53"/>
              </a:lnSpc>
              <a:spcBef>
                <a:spcPct val="0"/>
              </a:spcBef>
            </a:pPr>
            <a:r>
              <a:rPr lang="en-US" sz="11966">
                <a:solidFill>
                  <a:srgbClr val="D89C6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18 MESES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4172" y="5143500"/>
            <a:ext cx="15965128" cy="3671504"/>
            <a:chOff x="0" y="0"/>
            <a:chExt cx="21286838" cy="4895339"/>
          </a:xfrm>
        </p:grpSpPr>
        <p:sp>
          <p:nvSpPr>
            <p:cNvPr name="AutoShape 12" id="12"/>
            <p:cNvSpPr/>
            <p:nvPr/>
          </p:nvSpPr>
          <p:spPr>
            <a:xfrm>
              <a:off x="3062149" y="419091"/>
              <a:ext cx="15615920" cy="0"/>
            </a:xfrm>
            <a:prstGeom prst="line">
              <a:avLst/>
            </a:prstGeom>
            <a:ln cap="flat" w="5165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2223967" y="0"/>
              <a:ext cx="838182" cy="838182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064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241472" y="43165"/>
              <a:ext cx="838182" cy="838182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064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767224"/>
              <a:ext cx="5288999" cy="1888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Diseño del sistema y desarrollo del marco legal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996743" y="1767224"/>
              <a:ext cx="5288999" cy="3128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Instalación del sistema y adquisición de mediciones iniciales</a:t>
              </a:r>
            </a:p>
          </p:txBody>
        </p:sp>
        <p:sp>
          <p:nvSpPr>
            <p:cNvPr name="AutoShape 21" id="21"/>
            <p:cNvSpPr/>
            <p:nvPr/>
          </p:nvSpPr>
          <p:spPr>
            <a:xfrm>
              <a:off x="2643822" y="838181"/>
              <a:ext cx="1157" cy="634668"/>
            </a:xfrm>
            <a:prstGeom prst="line">
              <a:avLst/>
            </a:prstGeom>
            <a:ln cap="flat" w="51659">
              <a:solidFill>
                <a:srgbClr val="000000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10660564" y="881347"/>
              <a:ext cx="0" cy="591503"/>
            </a:xfrm>
            <a:prstGeom prst="line">
              <a:avLst/>
            </a:prstGeom>
            <a:ln cap="flat" w="51659">
              <a:solidFill>
                <a:srgbClr val="000000"/>
              </a:solidFill>
              <a:prstDash val="solid"/>
              <a:headEnd type="none" len="sm" w="sm"/>
              <a:tailEnd type="oval" len="lg" w="lg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18258978" y="43165"/>
              <a:ext cx="838182" cy="838182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064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997839" y="1767224"/>
              <a:ext cx="5288999" cy="2508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Definición del nuevo sistema de regalías y capacitaciones</a:t>
              </a:r>
            </a:p>
          </p:txBody>
        </p:sp>
        <p:sp>
          <p:nvSpPr>
            <p:cNvPr name="AutoShape 27" id="27"/>
            <p:cNvSpPr/>
            <p:nvPr/>
          </p:nvSpPr>
          <p:spPr>
            <a:xfrm flipH="true">
              <a:off x="18674924" y="881345"/>
              <a:ext cx="1841" cy="591505"/>
            </a:xfrm>
            <a:prstGeom prst="line">
              <a:avLst/>
            </a:prstGeom>
            <a:ln cap="flat" w="51659">
              <a:solidFill>
                <a:srgbClr val="000000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2307262" y="97897"/>
              <a:ext cx="648531" cy="648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8350658" y="80562"/>
              <a:ext cx="648531" cy="648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3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0336298" y="80562"/>
              <a:ext cx="648531" cy="648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1"/>
                </a:lnSpc>
              </a:pPr>
              <a:r>
                <a:rPr lang="en-US" b="true" sz="305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0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Gabriel Ollier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4177" y="-3241871"/>
            <a:ext cx="19050326" cy="5975359"/>
            <a:chOff x="0" y="0"/>
            <a:chExt cx="5017370" cy="1573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7370" cy="1573757"/>
            </a:xfrm>
            <a:custGeom>
              <a:avLst/>
              <a:gdLst/>
              <a:ahLst/>
              <a:cxnLst/>
              <a:rect r="r" b="b" t="t" l="l"/>
              <a:pathLst>
                <a:path h="1573757" w="5017370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719458">
            <a:off x="-471660" y="2409542"/>
            <a:ext cx="19305539" cy="3249078"/>
          </a:xfrm>
          <a:custGeom>
            <a:avLst/>
            <a:gdLst/>
            <a:ahLst/>
            <a:cxnLst/>
            <a:rect r="r" b="b" t="t" l="l"/>
            <a:pathLst>
              <a:path h="3249078" w="19305539">
                <a:moveTo>
                  <a:pt x="0" y="0"/>
                </a:moveTo>
                <a:lnTo>
                  <a:pt x="19305539" y="0"/>
                </a:lnTo>
                <a:lnTo>
                  <a:pt x="19305539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3104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115389" y="842668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4248" y="-713185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4452" y="252496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9317080">
            <a:off x="910642" y="2603660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447191" y="6030209"/>
            <a:ext cx="427980" cy="4279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80629" y="6030209"/>
            <a:ext cx="427980" cy="4279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9317080">
            <a:off x="11077647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288769" y="6030209"/>
            <a:ext cx="427980" cy="42798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9317080">
            <a:off x="14284099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495221" y="6030209"/>
            <a:ext cx="427980" cy="42798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992429" y="3784935"/>
            <a:ext cx="1433565" cy="1193768"/>
          </a:xfrm>
          <a:custGeom>
            <a:avLst/>
            <a:gdLst/>
            <a:ahLst/>
            <a:cxnLst/>
            <a:rect r="r" b="b" t="t" l="l"/>
            <a:pathLst>
              <a:path h="1193768" w="1433565">
                <a:moveTo>
                  <a:pt x="0" y="0"/>
                </a:moveTo>
                <a:lnTo>
                  <a:pt x="1433565" y="0"/>
                </a:lnTo>
                <a:lnTo>
                  <a:pt x="1433565" y="1193768"/>
                </a:lnTo>
                <a:lnTo>
                  <a:pt x="0" y="11937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38511" y="3683074"/>
            <a:ext cx="1397490" cy="1397490"/>
          </a:xfrm>
          <a:custGeom>
            <a:avLst/>
            <a:gdLst/>
            <a:ahLst/>
            <a:cxnLst/>
            <a:rect r="r" b="b" t="t" l="l"/>
            <a:pathLst>
              <a:path h="1397490" w="1397490">
                <a:moveTo>
                  <a:pt x="0" y="0"/>
                </a:moveTo>
                <a:lnTo>
                  <a:pt x="1397490" y="0"/>
                </a:lnTo>
                <a:lnTo>
                  <a:pt x="1397490" y="1397490"/>
                </a:lnTo>
                <a:lnTo>
                  <a:pt x="0" y="13974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9317080">
            <a:off x="7882352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7" y="0"/>
                </a:lnTo>
                <a:lnTo>
                  <a:pt x="3053227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9317080">
            <a:off x="4234250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7" y="0"/>
                </a:lnTo>
                <a:lnTo>
                  <a:pt x="3053227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115389" y="3934299"/>
            <a:ext cx="1091585" cy="895099"/>
          </a:xfrm>
          <a:custGeom>
            <a:avLst/>
            <a:gdLst/>
            <a:ahLst/>
            <a:cxnLst/>
            <a:rect r="r" b="b" t="t" l="l"/>
            <a:pathLst>
              <a:path h="895099" w="1091585">
                <a:moveTo>
                  <a:pt x="0" y="0"/>
                </a:moveTo>
                <a:lnTo>
                  <a:pt x="1091585" y="0"/>
                </a:lnTo>
                <a:lnTo>
                  <a:pt x="1091585" y="895099"/>
                </a:lnTo>
                <a:lnTo>
                  <a:pt x="0" y="8950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2127969" y="6030209"/>
            <a:ext cx="427980" cy="42798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684918" y="3784935"/>
            <a:ext cx="1219402" cy="1219402"/>
          </a:xfrm>
          <a:custGeom>
            <a:avLst/>
            <a:gdLst/>
            <a:ahLst/>
            <a:cxnLst/>
            <a:rect r="r" b="b" t="t" l="l"/>
            <a:pathLst>
              <a:path h="1219402" w="1219402">
                <a:moveTo>
                  <a:pt x="0" y="0"/>
                </a:moveTo>
                <a:lnTo>
                  <a:pt x="1219402" y="0"/>
                </a:lnTo>
                <a:lnTo>
                  <a:pt x="1219402" y="1219401"/>
                </a:lnTo>
                <a:lnTo>
                  <a:pt x="0" y="12194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824233" y="3573092"/>
            <a:ext cx="1357053" cy="1405611"/>
          </a:xfrm>
          <a:custGeom>
            <a:avLst/>
            <a:gdLst/>
            <a:ahLst/>
            <a:cxnLst/>
            <a:rect r="r" b="b" t="t" l="l"/>
            <a:pathLst>
              <a:path h="1405611" w="1357053">
                <a:moveTo>
                  <a:pt x="0" y="0"/>
                </a:moveTo>
                <a:lnTo>
                  <a:pt x="1357053" y="0"/>
                </a:lnTo>
                <a:lnTo>
                  <a:pt x="1357053" y="1405611"/>
                </a:lnTo>
                <a:lnTo>
                  <a:pt x="0" y="14056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592772" y="6816652"/>
            <a:ext cx="3369924" cy="55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083" spc="138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TÉCNICOS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7641" y="6816652"/>
            <a:ext cx="2650237" cy="55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083" spc="138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INGENIEROS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50681" y="6816652"/>
            <a:ext cx="2543011" cy="55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083" spc="138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ABOGADOS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2257" y="6809483"/>
            <a:ext cx="3198434" cy="55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083" spc="138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ECONOMISTAS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142953" y="6809483"/>
            <a:ext cx="3715662" cy="55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083" spc="138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CAPACITADORES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3854001" y="8380137"/>
            <a:ext cx="1906863" cy="1906863"/>
          </a:xfrm>
          <a:custGeom>
            <a:avLst/>
            <a:gdLst/>
            <a:ahLst/>
            <a:cxnLst/>
            <a:rect r="r" b="b" t="t" l="l"/>
            <a:pathLst>
              <a:path h="1906863" w="1906863">
                <a:moveTo>
                  <a:pt x="0" y="0"/>
                </a:moveTo>
                <a:lnTo>
                  <a:pt x="1906862" y="0"/>
                </a:lnTo>
                <a:lnTo>
                  <a:pt x="1906862" y="1906863"/>
                </a:lnTo>
                <a:lnTo>
                  <a:pt x="0" y="19068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622187" y="8693508"/>
            <a:ext cx="10087025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55 TRABAJADORES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740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Ignacio Faccipieri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9354559">
            <a:off x="14340438" y="4514682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521968">
            <a:off x="-1614569" y="6194806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2160" y="51327"/>
            <a:ext cx="14987851" cy="11347258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7795310" y="4681641"/>
            <a:ext cx="3105273" cy="2416467"/>
          </a:xfrm>
          <a:custGeom>
            <a:avLst/>
            <a:gdLst/>
            <a:ahLst/>
            <a:cxnLst/>
            <a:rect r="r" b="b" t="t" l="l"/>
            <a:pathLst>
              <a:path h="2416467" w="3105273">
                <a:moveTo>
                  <a:pt x="0" y="0"/>
                </a:moveTo>
                <a:lnTo>
                  <a:pt x="3105273" y="0"/>
                </a:lnTo>
                <a:lnTo>
                  <a:pt x="3105273" y="2416467"/>
                </a:lnTo>
                <a:lnTo>
                  <a:pt x="0" y="2416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51158" y="48151"/>
            <a:ext cx="7185683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PRESUPUESTO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3333" y="5030266"/>
            <a:ext cx="3669145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b="true" sz="3799" spc="35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TOTAL:</a:t>
            </a:r>
          </a:p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 spc="35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784.000 USD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870155" y="6582681"/>
            <a:ext cx="2201737" cy="1437134"/>
          </a:xfrm>
          <a:custGeom>
            <a:avLst/>
            <a:gdLst/>
            <a:ahLst/>
            <a:cxnLst/>
            <a:rect r="r" b="b" t="t" l="l"/>
            <a:pathLst>
              <a:path h="1437134" w="2201737">
                <a:moveTo>
                  <a:pt x="0" y="0"/>
                </a:moveTo>
                <a:lnTo>
                  <a:pt x="2201737" y="0"/>
                </a:lnTo>
                <a:lnTo>
                  <a:pt x="2201737" y="1437134"/>
                </a:lnTo>
                <a:lnTo>
                  <a:pt x="0" y="14371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867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Ramiro Madera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99961">
            <a:off x="12698738" y="-103256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659918">
            <a:off x="-777149" y="-1434683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451173" y="283592"/>
            <a:ext cx="14568847" cy="254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46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  <a:p>
            <a:pPr algn="ctr">
              <a:lnSpc>
                <a:spcPts val="10258"/>
              </a:lnSpc>
            </a:pPr>
            <a:r>
              <a:rPr lang="en-US" sz="7327" spc="4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INVERSIÓN ESTRATÉGICA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66978" y="3357125"/>
            <a:ext cx="15154044" cy="1493456"/>
            <a:chOff x="0" y="0"/>
            <a:chExt cx="20205392" cy="199127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205392" cy="1991274"/>
              <a:chOff x="0" y="0"/>
              <a:chExt cx="3991188" cy="3933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1189" cy="393338"/>
              </a:xfrm>
              <a:custGeom>
                <a:avLst/>
                <a:gdLst/>
                <a:ahLst/>
                <a:cxnLst/>
                <a:rect r="r" b="b" t="t" l="l"/>
                <a:pathLst>
                  <a:path h="393338" w="3991189">
                    <a:moveTo>
                      <a:pt x="26055" y="0"/>
                    </a:moveTo>
                    <a:lnTo>
                      <a:pt x="3965134" y="0"/>
                    </a:lnTo>
                    <a:cubicBezTo>
                      <a:pt x="3972044" y="0"/>
                      <a:pt x="3978671" y="2745"/>
                      <a:pt x="3983557" y="7631"/>
                    </a:cubicBezTo>
                    <a:cubicBezTo>
                      <a:pt x="3988443" y="12518"/>
                      <a:pt x="3991189" y="19145"/>
                      <a:pt x="3991189" y="26055"/>
                    </a:cubicBezTo>
                    <a:lnTo>
                      <a:pt x="3991189" y="367283"/>
                    </a:lnTo>
                    <a:cubicBezTo>
                      <a:pt x="3991189" y="374193"/>
                      <a:pt x="3988443" y="380821"/>
                      <a:pt x="3983557" y="385707"/>
                    </a:cubicBezTo>
                    <a:cubicBezTo>
                      <a:pt x="3978671" y="390593"/>
                      <a:pt x="3972044" y="393338"/>
                      <a:pt x="3965134" y="393338"/>
                    </a:cubicBezTo>
                    <a:lnTo>
                      <a:pt x="26055" y="393338"/>
                    </a:lnTo>
                    <a:cubicBezTo>
                      <a:pt x="19145" y="393338"/>
                      <a:pt x="12518" y="390593"/>
                      <a:pt x="7631" y="385707"/>
                    </a:cubicBezTo>
                    <a:cubicBezTo>
                      <a:pt x="2745" y="380821"/>
                      <a:pt x="0" y="374193"/>
                      <a:pt x="0" y="367283"/>
                    </a:cubicBezTo>
                    <a:lnTo>
                      <a:pt x="0" y="26055"/>
                    </a:lnTo>
                    <a:cubicBezTo>
                      <a:pt x="0" y="19145"/>
                      <a:pt x="2745" y="12518"/>
                      <a:pt x="7631" y="7631"/>
                    </a:cubicBezTo>
                    <a:cubicBezTo>
                      <a:pt x="12518" y="2745"/>
                      <a:pt x="19145" y="0"/>
                      <a:pt x="26055" y="0"/>
                    </a:cubicBezTo>
                    <a:close/>
                  </a:path>
                </a:pathLst>
              </a:custGeom>
              <a:solidFill>
                <a:srgbClr val="D3BC9C">
                  <a:alpha val="73725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991188" cy="431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90131" y="319400"/>
              <a:ext cx="19425129" cy="1247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78"/>
                </a:lnSpc>
              </a:pPr>
              <a:r>
                <a:rPr lang="en-US" sz="5627" i="true" spc="354">
                  <a:solidFill>
                    <a:srgbClr val="152540"/>
                  </a:solidFill>
                  <a:latin typeface="Glacial Indifference Italics"/>
                  <a:ea typeface="Glacial Indifference Italics"/>
                  <a:cs typeface="Glacial Indifference Italics"/>
                  <a:sym typeface="Glacial Indifference Italics"/>
                </a:rPr>
                <a:t>El SIMCAL es una inversión, no un gasto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1173" y="5002636"/>
            <a:ext cx="13110564" cy="528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9725" indent="-464862" lvl="1">
              <a:lnSpc>
                <a:spcPts val="8483"/>
              </a:lnSpc>
              <a:buFont typeface="Arial"/>
              <a:buChar char="•"/>
            </a:pPr>
            <a:r>
              <a:rPr lang="en-US" sz="4306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Recuperación con multas y sanciones</a:t>
            </a:r>
          </a:p>
          <a:p>
            <a:pPr algn="l" marL="929725" indent="-464862" lvl="1">
              <a:lnSpc>
                <a:spcPts val="8483"/>
              </a:lnSpc>
              <a:buFont typeface="Arial"/>
              <a:buChar char="•"/>
            </a:pPr>
            <a:r>
              <a:rPr lang="en-US" sz="4306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Optimización de regalías</a:t>
            </a:r>
          </a:p>
          <a:p>
            <a:pPr algn="l" marL="929725" indent="-464862" lvl="1">
              <a:lnSpc>
                <a:spcPts val="8483"/>
              </a:lnSpc>
              <a:buFont typeface="Arial"/>
              <a:buChar char="•"/>
            </a:pPr>
            <a:r>
              <a:rPr lang="en-US" sz="4306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Reducción de la contaminación</a:t>
            </a:r>
          </a:p>
          <a:p>
            <a:pPr algn="l" marL="929725" indent="-464862" lvl="1">
              <a:lnSpc>
                <a:spcPts val="8483"/>
              </a:lnSpc>
              <a:buFont typeface="Arial"/>
              <a:buChar char="•"/>
            </a:pPr>
            <a:r>
              <a:rPr lang="en-US" sz="4306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 de conflictos sociales</a:t>
            </a:r>
          </a:p>
          <a:p>
            <a:pPr algn="ctr">
              <a:lnSpc>
                <a:spcPts val="848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-239235" y="9820275"/>
            <a:ext cx="45694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24"/>
              </a:lnSpc>
            </a:pPr>
            <a:r>
              <a:rPr lang="en-US" sz="2854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Melina Caciani Toniolo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478627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0042" y="7499826"/>
            <a:ext cx="822081" cy="822081"/>
          </a:xfrm>
          <a:custGeom>
            <a:avLst/>
            <a:gdLst/>
            <a:ahLst/>
            <a:cxnLst/>
            <a:rect r="r" b="b" t="t" l="l"/>
            <a:pathLst>
              <a:path h="822081" w="822081">
                <a:moveTo>
                  <a:pt x="0" y="0"/>
                </a:moveTo>
                <a:lnTo>
                  <a:pt x="822081" y="0"/>
                </a:lnTo>
                <a:lnTo>
                  <a:pt x="822081" y="822082"/>
                </a:lnTo>
                <a:lnTo>
                  <a:pt x="0" y="822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2370" y="1673018"/>
            <a:ext cx="6441103" cy="347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1"/>
              </a:lnSpc>
            </a:pPr>
            <a:r>
              <a:rPr lang="en-US" b="true" sz="9965" spc="9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9134" y="5463121"/>
            <a:ext cx="6090644" cy="93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5459" spc="12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 SU ATENCIÓN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6303" y="7565503"/>
            <a:ext cx="6417697" cy="6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78"/>
              </a:lnSpc>
              <a:spcBef>
                <a:spcPct val="0"/>
              </a:spcBef>
            </a:pPr>
            <a:r>
              <a:rPr lang="en-US" sz="3556" spc="78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consultasminerassa@gmail.com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DAG3Hzwsgxw</dc:identifier>
  <dcterms:modified xsi:type="dcterms:W3CDTF">2011-08-01T06:04:30Z</dcterms:modified>
  <cp:revision>1</cp:revision>
  <dc:title>Presentación propuesta</dc:title>
</cp:coreProperties>
</file>