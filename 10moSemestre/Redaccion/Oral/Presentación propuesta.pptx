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Glacial Indifference Bold" charset="1" panose="00000800000000000000"/>
      <p:regular r:id="rId32"/>
    </p:embeddedFont>
    <p:embeddedFont>
      <p:font typeface="Glacial Indifference" charset="1" panose="00000000000000000000"/>
      <p:regular r:id="rId33"/>
    </p:embeddedFont>
    <p:embeddedFont>
      <p:font typeface="DM Sans Bold" charset="1" panose="00000000000000000000"/>
      <p:regular r:id="rId34"/>
    </p:embeddedFont>
    <p:embeddedFont>
      <p:font typeface="Poppins" charset="1" panose="00000500000000000000"/>
      <p:regular r:id="rId35"/>
    </p:embeddedFont>
    <p:embeddedFont>
      <p:font typeface="Poppins Bold" charset="1" panose="000008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media/image39.png" Type="http://schemas.openxmlformats.org/officeDocument/2006/relationships/image"/><Relationship Id="rId20" Target="../media/image57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18" Target="../media/image79.png" Type="http://schemas.openxmlformats.org/officeDocument/2006/relationships/image"/><Relationship Id="rId19" Target="../media/image80.svg" Type="http://schemas.openxmlformats.org/officeDocument/2006/relationships/image"/><Relationship Id="rId2" Target="../media/image63.png" Type="http://schemas.openxmlformats.org/officeDocument/2006/relationships/image"/><Relationship Id="rId20" Target="../media/image81.png" Type="http://schemas.openxmlformats.org/officeDocument/2006/relationships/image"/><Relationship Id="rId21" Target="../media/image82.svg" Type="http://schemas.openxmlformats.org/officeDocument/2006/relationships/image"/><Relationship Id="rId22" Target="../media/image83.png" Type="http://schemas.openxmlformats.org/officeDocument/2006/relationships/image"/><Relationship Id="rId23" Target="../media/image84.svg" Type="http://schemas.openxmlformats.org/officeDocument/2006/relationships/image"/><Relationship Id="rId24" Target="../media/image85.png" Type="http://schemas.openxmlformats.org/officeDocument/2006/relationships/image"/><Relationship Id="rId25" Target="../media/image86.svg" Type="http://schemas.openxmlformats.org/officeDocument/2006/relationships/image"/><Relationship Id="rId26" Target="../media/image87.png" Type="http://schemas.openxmlformats.org/officeDocument/2006/relationships/image"/><Relationship Id="rId27" Target="../media/image88.svg" Type="http://schemas.openxmlformats.org/officeDocument/2006/relationships/image"/><Relationship Id="rId28" Target="../media/image89.png" Type="http://schemas.openxmlformats.org/officeDocument/2006/relationships/image"/><Relationship Id="rId29" Target="../media/image90.svg" Type="http://schemas.openxmlformats.org/officeDocument/2006/relationships/image"/><Relationship Id="rId3" Target="../media/image64.svg" Type="http://schemas.openxmlformats.org/officeDocument/2006/relationships/image"/><Relationship Id="rId30" Target="../media/image91.png" Type="http://schemas.openxmlformats.org/officeDocument/2006/relationships/image"/><Relationship Id="rId31" Target="../media/image92.svg" Type="http://schemas.openxmlformats.org/officeDocument/2006/relationships/image"/><Relationship Id="rId32" Target="../media/image93.png" Type="http://schemas.openxmlformats.org/officeDocument/2006/relationships/image"/><Relationship Id="rId33" Target="../media/image94.svg" Type="http://schemas.openxmlformats.org/officeDocument/2006/relationships/image"/><Relationship Id="rId34" Target="../media/image95.png" Type="http://schemas.openxmlformats.org/officeDocument/2006/relationships/image"/><Relationship Id="rId35" Target="../media/image96.svg" Type="http://schemas.openxmlformats.org/officeDocument/2006/relationships/image"/><Relationship Id="rId36" Target="../media/image97.png" Type="http://schemas.openxmlformats.org/officeDocument/2006/relationships/image"/><Relationship Id="rId37" Target="../media/image98.svg" Type="http://schemas.openxmlformats.org/officeDocument/2006/relationships/image"/><Relationship Id="rId38" Target="../media/image99.png" Type="http://schemas.openxmlformats.org/officeDocument/2006/relationships/image"/><Relationship Id="rId39" Target="../media/image100.svg" Type="http://schemas.openxmlformats.org/officeDocument/2006/relationships/image"/><Relationship Id="rId4" Target="../media/image65.png" Type="http://schemas.openxmlformats.org/officeDocument/2006/relationships/image"/><Relationship Id="rId40" Target="../media/image101.png" Type="http://schemas.openxmlformats.org/officeDocument/2006/relationships/image"/><Relationship Id="rId41" Target="../media/image102.svg" Type="http://schemas.openxmlformats.org/officeDocument/2006/relationships/image"/><Relationship Id="rId42" Target="../media/image103.png" Type="http://schemas.openxmlformats.org/officeDocument/2006/relationships/image"/><Relationship Id="rId43" Target="../media/image104.svg" Type="http://schemas.openxmlformats.org/officeDocument/2006/relationships/image"/><Relationship Id="rId44" Target="../media/image105.png" Type="http://schemas.openxmlformats.org/officeDocument/2006/relationships/image"/><Relationship Id="rId45" Target="../media/image106.svg" Type="http://schemas.openxmlformats.org/officeDocument/2006/relationships/image"/><Relationship Id="rId46" Target="../media/image107.png" Type="http://schemas.openxmlformats.org/officeDocument/2006/relationships/image"/><Relationship Id="rId47" Target="../media/image108.svg" Type="http://schemas.openxmlformats.org/officeDocument/2006/relationships/image"/><Relationship Id="rId48" Target="../media/image109.png" Type="http://schemas.openxmlformats.org/officeDocument/2006/relationships/image"/><Relationship Id="rId49" Target="../media/image110.svg" Type="http://schemas.openxmlformats.org/officeDocument/2006/relationships/image"/><Relationship Id="rId5" Target="../media/image66.svg" Type="http://schemas.openxmlformats.org/officeDocument/2006/relationships/image"/><Relationship Id="rId50" Target="../media/image111.png" Type="http://schemas.openxmlformats.org/officeDocument/2006/relationships/image"/><Relationship Id="rId51" Target="../media/image112.svg" Type="http://schemas.openxmlformats.org/officeDocument/2006/relationships/image"/><Relationship Id="rId52" Target="../media/image113.png" Type="http://schemas.openxmlformats.org/officeDocument/2006/relationships/image"/><Relationship Id="rId53" Target="../media/image114.svg" Type="http://schemas.openxmlformats.org/officeDocument/2006/relationships/image"/><Relationship Id="rId54" Target="../media/image115.png" Type="http://schemas.openxmlformats.org/officeDocument/2006/relationships/image"/><Relationship Id="rId55" Target="../media/image116.svg" Type="http://schemas.openxmlformats.org/officeDocument/2006/relationships/image"/><Relationship Id="rId56" Target="../media/image117.png" Type="http://schemas.openxmlformats.org/officeDocument/2006/relationships/image"/><Relationship Id="rId57" Target="../media/image118.svg" Type="http://schemas.openxmlformats.org/officeDocument/2006/relationships/image"/><Relationship Id="rId58" Target="../media/image119.png" Type="http://schemas.openxmlformats.org/officeDocument/2006/relationships/image"/><Relationship Id="rId59" Target="../media/image120.svg" Type="http://schemas.openxmlformats.org/officeDocument/2006/relationships/image"/><Relationship Id="rId6" Target="../media/image67.png" Type="http://schemas.openxmlformats.org/officeDocument/2006/relationships/image"/><Relationship Id="rId60" Target="../media/image121.png" Type="http://schemas.openxmlformats.org/officeDocument/2006/relationships/image"/><Relationship Id="rId61" Target="../media/image122.svg" Type="http://schemas.openxmlformats.org/officeDocument/2006/relationships/image"/><Relationship Id="rId62" Target="../media/image123.png" Type="http://schemas.openxmlformats.org/officeDocument/2006/relationships/image"/><Relationship Id="rId63" Target="../media/image124.svg" Type="http://schemas.openxmlformats.org/officeDocument/2006/relationships/image"/><Relationship Id="rId64" Target="../media/image125.png" Type="http://schemas.openxmlformats.org/officeDocument/2006/relationships/image"/><Relationship Id="rId65" Target="../media/image126.svg" Type="http://schemas.openxmlformats.org/officeDocument/2006/relationships/image"/><Relationship Id="rId66" Target="../media/image127.png" Type="http://schemas.openxmlformats.org/officeDocument/2006/relationships/image"/><Relationship Id="rId67" Target="../media/image128.svg" Type="http://schemas.openxmlformats.org/officeDocument/2006/relationships/image"/><Relationship Id="rId68" Target="../media/image129.png" Type="http://schemas.openxmlformats.org/officeDocument/2006/relationships/image"/><Relationship Id="rId69" Target="../media/image130.svg" Type="http://schemas.openxmlformats.org/officeDocument/2006/relationships/image"/><Relationship Id="rId7" Target="../media/image68.svg" Type="http://schemas.openxmlformats.org/officeDocument/2006/relationships/image"/><Relationship Id="rId70" Target="../media/image131.png" Type="http://schemas.openxmlformats.org/officeDocument/2006/relationships/image"/><Relationship Id="rId71" Target="../media/image132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231370" y="7069379"/>
            <a:ext cx="1756090" cy="929131"/>
          </a:xfrm>
          <a:custGeom>
            <a:avLst/>
            <a:gdLst/>
            <a:ahLst/>
            <a:cxnLst/>
            <a:rect r="r" b="b" t="t" l="l"/>
            <a:pathLst>
              <a:path h="929131" w="1756090">
                <a:moveTo>
                  <a:pt x="0" y="0"/>
                </a:moveTo>
                <a:lnTo>
                  <a:pt x="1756090" y="0"/>
                </a:lnTo>
                <a:lnTo>
                  <a:pt x="1756090" y="929131"/>
                </a:lnTo>
                <a:lnTo>
                  <a:pt x="0" y="9291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66807" y="2576872"/>
            <a:ext cx="14154387" cy="285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6"/>
              </a:lnSpc>
            </a:pPr>
            <a:r>
              <a:rPr lang="en-US" b="true" sz="5426" spc="31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SISTEMA DE MONITOREO Y CONTROL PARA ACTIVIDADES MINERAS DE LITIO EN ARGENTINA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32193" y="9883567"/>
            <a:ext cx="3540730" cy="40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  <a:spcBef>
                <a:spcPct val="0"/>
              </a:spcBef>
            </a:pPr>
            <a:r>
              <a:rPr lang="en-US" sz="2663" spc="-53">
                <a:solidFill>
                  <a:srgbClr val="2537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 de noviembre de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90215" y="1653300"/>
            <a:ext cx="7307570" cy="87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64"/>
              </a:lnSpc>
              <a:spcBef>
                <a:spcPct val="0"/>
              </a:spcBef>
            </a:pPr>
            <a:r>
              <a:rPr lang="en-US" sz="5045" spc="4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SIMCAL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33367" y="7316625"/>
            <a:ext cx="7938381" cy="8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  <a:spcBef>
                <a:spcPct val="0"/>
              </a:spcBef>
            </a:pPr>
            <a:r>
              <a:rPr lang="en-US" b="true" sz="2718" spc="-54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Melina Caciani Toniolo - Joaquín Chanquía - Ignacio Faccipieri - Ramiro Madera - Gabriel Ollier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33367" y="6858039"/>
            <a:ext cx="4125944" cy="44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  <a:spcBef>
                <a:spcPct val="0"/>
              </a:spcBef>
            </a:pPr>
            <a:r>
              <a:rPr lang="en-US" b="true" sz="2918" spc="-5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Consultas Mineras S.A.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44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44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310203" y="-817241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75852" y="5395640"/>
            <a:ext cx="6021227" cy="4515920"/>
          </a:xfrm>
          <a:custGeom>
            <a:avLst/>
            <a:gdLst/>
            <a:ahLst/>
            <a:cxnLst/>
            <a:rect r="r" b="b" t="t" l="l"/>
            <a:pathLst>
              <a:path h="4515920" w="6021227">
                <a:moveTo>
                  <a:pt x="0" y="0"/>
                </a:moveTo>
                <a:lnTo>
                  <a:pt x="6021227" y="0"/>
                </a:lnTo>
                <a:lnTo>
                  <a:pt x="6021227" y="4515920"/>
                </a:lnTo>
                <a:lnTo>
                  <a:pt x="0" y="45159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13063" y="1893837"/>
            <a:ext cx="7208484" cy="4053192"/>
          </a:xfrm>
          <a:custGeom>
            <a:avLst/>
            <a:gdLst/>
            <a:ahLst/>
            <a:cxnLst/>
            <a:rect r="r" b="b" t="t" l="l"/>
            <a:pathLst>
              <a:path h="4053192" w="7208484">
                <a:moveTo>
                  <a:pt x="0" y="0"/>
                </a:moveTo>
                <a:lnTo>
                  <a:pt x="7208485" y="0"/>
                </a:lnTo>
                <a:lnTo>
                  <a:pt x="7208485" y="4053191"/>
                </a:lnTo>
                <a:lnTo>
                  <a:pt x="0" y="40531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75852" y="2712879"/>
            <a:ext cx="10453324" cy="191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2"/>
              </a:lnSpc>
            </a:pPr>
            <a:r>
              <a:rPr lang="en-US" b="true" sz="3694" spc="8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</a:t>
            </a:r>
            <a:r>
              <a:rPr lang="en-US" b="true" sz="3694" spc="81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iesgos Ambientales Críticos</a:t>
            </a:r>
            <a:r>
              <a:rPr lang="en-US" sz="3694" spc="81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Existe un consumo intensivo de agua que acelera la desertificación en ecosistemas altoandinos.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34006" y="6675675"/>
            <a:ext cx="9925294" cy="188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2"/>
              </a:lnSpc>
            </a:pPr>
            <a:r>
              <a:rPr lang="en-US" b="true" sz="3623" spc="79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</a:t>
            </a:r>
            <a:r>
              <a:rPr lang="en-US" b="true" sz="3623" spc="79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onflictos Sociales</a:t>
            </a:r>
            <a:r>
              <a:rPr lang="en-US" sz="3623" spc="79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La falta de transparencia y los impactos ambientales alimentan tensiones que amenazan la "licencia social para operar".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91028" y="188793"/>
            <a:ext cx="6922035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42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PROBLEMA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44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131" y="7173582"/>
            <a:ext cx="7641686" cy="6808048"/>
          </a:xfrm>
          <a:custGeom>
            <a:avLst/>
            <a:gdLst/>
            <a:ahLst/>
            <a:cxnLst/>
            <a:rect r="r" b="b" t="t" l="l"/>
            <a:pathLst>
              <a:path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49738" y="-4940726"/>
            <a:ext cx="7641686" cy="6808048"/>
          </a:xfrm>
          <a:custGeom>
            <a:avLst/>
            <a:gdLst/>
            <a:ahLst/>
            <a:cxnLst/>
            <a:rect r="r" b="b" t="t" l="l"/>
            <a:pathLst>
              <a:path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8798399">
            <a:off x="13156923" y="1016610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8798399">
            <a:off x="-2994864" y="-864598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9961243">
            <a:off x="12217193" y="-3026777"/>
            <a:ext cx="10084214" cy="8727429"/>
          </a:xfrm>
          <a:custGeom>
            <a:avLst/>
            <a:gdLst/>
            <a:ahLst/>
            <a:cxnLst/>
            <a:rect r="r" b="b" t="t" l="l"/>
            <a:pathLst>
              <a:path h="8727429" w="10084214">
                <a:moveTo>
                  <a:pt x="0" y="0"/>
                </a:moveTo>
                <a:lnTo>
                  <a:pt x="10084214" y="0"/>
                </a:lnTo>
                <a:lnTo>
                  <a:pt x="10084214" y="8727429"/>
                </a:lnTo>
                <a:lnTo>
                  <a:pt x="0" y="8727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976001">
            <a:off x="-4614341" y="5979010"/>
            <a:ext cx="9228681" cy="7987004"/>
          </a:xfrm>
          <a:custGeom>
            <a:avLst/>
            <a:gdLst/>
            <a:ahLst/>
            <a:cxnLst/>
            <a:rect r="r" b="b" t="t" l="l"/>
            <a:pathLst>
              <a:path h="7987004" w="9228681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-143541" y="845633"/>
            <a:ext cx="13032148" cy="106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4"/>
              </a:lnSpc>
            </a:pPr>
            <a:r>
              <a:rPr lang="en-US" b="true" sz="7592" spc="402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 SOLUCIÓN: </a:t>
            </a:r>
            <a:r>
              <a:rPr lang="en-US" sz="7592" spc="4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SIMCAL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553860"/>
            <a:ext cx="4807378" cy="809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2"/>
              </a:lnSpc>
            </a:pPr>
            <a:r>
              <a:rPr lang="en-US" b="true" sz="5759" spc="305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¿QUÉ 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399455" y="3629908"/>
            <a:ext cx="18288000" cy="1216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020" indent="-376010" lvl="1">
              <a:lnSpc>
                <a:spcPts val="4876"/>
              </a:lnSpc>
              <a:buFont typeface="Arial"/>
              <a:buChar char="•"/>
            </a:pPr>
            <a:r>
              <a:rPr lang="en-US" sz="3483" spc="2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 sistema de cumplimiento obligatorio para todas las plantas de extracción.</a:t>
            </a:r>
          </a:p>
          <a:p>
            <a:pPr algn="l" marL="752020" indent="-376010" lvl="1">
              <a:lnSpc>
                <a:spcPts val="4876"/>
              </a:lnSpc>
              <a:buFont typeface="Arial"/>
              <a:buChar char="•"/>
            </a:pPr>
            <a:r>
              <a:rPr lang="en-US" sz="3483" spc="20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Una plataforma unificada que mide el impacto ambiental en tiempo real.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4859" y="7037089"/>
            <a:ext cx="17004441" cy="203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7848" indent="-418924" lvl="1">
              <a:lnSpc>
                <a:spcPts val="5433"/>
              </a:lnSpc>
              <a:buFont typeface="Arial"/>
              <a:buChar char="•"/>
            </a:pPr>
            <a:r>
              <a:rPr lang="en-US" sz="3880" spc="22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Garantizar prácticas transparentes y sostenibles.</a:t>
            </a:r>
          </a:p>
          <a:p>
            <a:pPr algn="l" marL="837848" indent="-418924" lvl="1">
              <a:lnSpc>
                <a:spcPts val="5433"/>
              </a:lnSpc>
              <a:buFont typeface="Arial"/>
              <a:buChar char="•"/>
            </a:pPr>
            <a:r>
              <a:rPr lang="en-US" sz="3880" spc="22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Fortalecer la licencia social con información verídica.</a:t>
            </a:r>
          </a:p>
          <a:p>
            <a:pPr algn="l" marL="837848" indent="-418924" lvl="1">
              <a:lnSpc>
                <a:spcPts val="5433"/>
              </a:lnSpc>
              <a:buFont typeface="Arial"/>
              <a:buChar char="•"/>
            </a:pPr>
            <a:r>
              <a:rPr lang="en-US" sz="3880" spc="22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Crear un marco sancionatorio y un régimen de regalías más justo.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5703" y="5979976"/>
            <a:ext cx="8728651" cy="809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2"/>
              </a:lnSpc>
            </a:pPr>
            <a:r>
              <a:rPr lang="en-US" sz="5759" spc="30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OBJETIVOS PRINCIPALES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6947" y="4364203"/>
            <a:ext cx="5141050" cy="4238108"/>
            <a:chOff x="0" y="0"/>
            <a:chExt cx="812800" cy="6700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75103" y="4364203"/>
            <a:ext cx="5141050" cy="4238108"/>
            <a:chOff x="0" y="0"/>
            <a:chExt cx="812800" cy="6700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40003" y="4364203"/>
            <a:ext cx="5141050" cy="4238108"/>
            <a:chOff x="0" y="0"/>
            <a:chExt cx="812800" cy="6700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70045"/>
            </a:xfrm>
            <a:custGeom>
              <a:avLst/>
              <a:gdLst/>
              <a:ahLst/>
              <a:cxnLst/>
              <a:rect r="r" b="b" t="t" l="l"/>
              <a:pathLst>
                <a:path h="670045" w="812800">
                  <a:moveTo>
                    <a:pt x="39153" y="0"/>
                  </a:moveTo>
                  <a:lnTo>
                    <a:pt x="773647" y="0"/>
                  </a:lnTo>
                  <a:cubicBezTo>
                    <a:pt x="784031" y="0"/>
                    <a:pt x="793990" y="4125"/>
                    <a:pt x="801332" y="11468"/>
                  </a:cubicBezTo>
                  <a:cubicBezTo>
                    <a:pt x="808675" y="18810"/>
                    <a:pt x="812800" y="28769"/>
                    <a:pt x="812800" y="39153"/>
                  </a:cubicBezTo>
                  <a:lnTo>
                    <a:pt x="812800" y="630891"/>
                  </a:lnTo>
                  <a:cubicBezTo>
                    <a:pt x="812800" y="641276"/>
                    <a:pt x="808675" y="651234"/>
                    <a:pt x="801332" y="658577"/>
                  </a:cubicBezTo>
                  <a:cubicBezTo>
                    <a:pt x="793990" y="665920"/>
                    <a:pt x="784031" y="670045"/>
                    <a:pt x="773647" y="670045"/>
                  </a:cubicBezTo>
                  <a:lnTo>
                    <a:pt x="39153" y="670045"/>
                  </a:lnTo>
                  <a:cubicBezTo>
                    <a:pt x="28769" y="670045"/>
                    <a:pt x="18810" y="665920"/>
                    <a:pt x="11468" y="658577"/>
                  </a:cubicBezTo>
                  <a:cubicBezTo>
                    <a:pt x="4125" y="651234"/>
                    <a:pt x="0" y="641276"/>
                    <a:pt x="0" y="630891"/>
                  </a:cubicBezTo>
                  <a:lnTo>
                    <a:pt x="0" y="39153"/>
                  </a:lnTo>
                  <a:cubicBezTo>
                    <a:pt x="0" y="28769"/>
                    <a:pt x="4125" y="18810"/>
                    <a:pt x="11468" y="11468"/>
                  </a:cubicBezTo>
                  <a:cubicBezTo>
                    <a:pt x="18810" y="4125"/>
                    <a:pt x="28769" y="0"/>
                    <a:pt x="39153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812800" cy="660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81655" y="1654009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110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3266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8166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73248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1405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6305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5766" y="5974636"/>
            <a:ext cx="4563411" cy="227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3922" y="5974636"/>
            <a:ext cx="4563411" cy="227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28823" y="5974636"/>
            <a:ext cx="4563411" cy="227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sz="2605" spc="57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1311213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67793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22442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6321534" y="-28554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7304767" y="85476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0" y="925830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-937766" y="8402769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672866">
            <a:off x="-1045588" y="-178351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-10799999">
            <a:off x="12715117" y="758304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1847426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6701" y="3971697"/>
            <a:ext cx="8307816" cy="96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54" spc="6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esplegar una infraestructura nacional de monitoreo ambiental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96701" y="5695278"/>
            <a:ext cx="8307816" cy="96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54" spc="6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esarrollar una plataforma digital centralizada para la gestión de datos.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96701" y="7415520"/>
            <a:ext cx="8307816" cy="145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6"/>
              </a:lnSpc>
            </a:pPr>
            <a:r>
              <a:rPr lang="en-US" sz="2754" spc="60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Lorem ipsum dolor sit amet, consectetur adipiscing elit. Duis vulputate nulla at ante rhoncus, vel efficitur felis condimentum. Proin odio odio.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4222" y="2444870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sz="7327" spc="68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DEL </a:t>
            </a: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SIMCAL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6399961">
            <a:off x="11329998" y="-1574727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1304517" y="2508050"/>
            <a:ext cx="6238131" cy="623813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AutoShape 9" id="9"/>
          <p:cNvSpPr/>
          <p:nvPr/>
        </p:nvSpPr>
        <p:spPr>
          <a:xfrm flipV="true">
            <a:off x="2835837" y="4028847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2835837" y="5752428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2835837" y="7472670"/>
            <a:ext cx="0" cy="1470758"/>
          </a:xfrm>
          <a:prstGeom prst="line">
            <a:avLst/>
          </a:prstGeom>
          <a:ln cap="flat" w="152400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904222" y="3693985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04222" y="5417566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4222" y="7137809"/>
            <a:ext cx="770662" cy="18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58"/>
              </a:lnSpc>
            </a:pPr>
            <a:r>
              <a:rPr lang="en-US" b="true" sz="10827" spc="1017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659918">
            <a:off x="-442221" y="-3550155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532615" y="663857"/>
            <a:ext cx="15634489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5367" y="1559064"/>
            <a:ext cx="9817265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PLAN DE ACCIÓN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90950" y="-2033784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9354559">
            <a:off x="13075606" y="5013349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8" y="0"/>
                </a:lnTo>
                <a:lnTo>
                  <a:pt x="8367388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521968">
            <a:off x="-796910" y="6194806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4330332" y="5444269"/>
            <a:ext cx="1075359" cy="1178182"/>
          </a:xfrm>
          <a:custGeom>
            <a:avLst/>
            <a:gdLst/>
            <a:ahLst/>
            <a:cxnLst/>
            <a:rect r="r" b="b" t="t" l="l"/>
            <a:pathLst>
              <a:path h="1178182" w="1075359">
                <a:moveTo>
                  <a:pt x="0" y="0"/>
                </a:moveTo>
                <a:lnTo>
                  <a:pt x="1075359" y="0"/>
                </a:lnTo>
                <a:lnTo>
                  <a:pt x="1075359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3529035" y="6786769"/>
            <a:ext cx="2677953" cy="1501447"/>
            <a:chOff x="0" y="0"/>
            <a:chExt cx="812800" cy="4557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55712"/>
            </a:xfrm>
            <a:custGeom>
              <a:avLst/>
              <a:gdLst/>
              <a:ahLst/>
              <a:cxnLst/>
              <a:rect r="r" b="b" t="t" l="l"/>
              <a:pathLst>
                <a:path h="455712" w="812800">
                  <a:moveTo>
                    <a:pt x="227856" y="0"/>
                  </a:moveTo>
                  <a:lnTo>
                    <a:pt x="584944" y="0"/>
                  </a:lnTo>
                  <a:cubicBezTo>
                    <a:pt x="645375" y="0"/>
                    <a:pt x="703331" y="24006"/>
                    <a:pt x="746062" y="66738"/>
                  </a:cubicBezTo>
                  <a:cubicBezTo>
                    <a:pt x="788794" y="109469"/>
                    <a:pt x="812800" y="167425"/>
                    <a:pt x="812800" y="227856"/>
                  </a:cubicBezTo>
                  <a:lnTo>
                    <a:pt x="812800" y="227856"/>
                  </a:lnTo>
                  <a:cubicBezTo>
                    <a:pt x="812800" y="288287"/>
                    <a:pt x="788794" y="346244"/>
                    <a:pt x="746062" y="388975"/>
                  </a:cubicBezTo>
                  <a:cubicBezTo>
                    <a:pt x="703331" y="431706"/>
                    <a:pt x="645375" y="455712"/>
                    <a:pt x="584944" y="455712"/>
                  </a:cubicBezTo>
                  <a:lnTo>
                    <a:pt x="227856" y="455712"/>
                  </a:lnTo>
                  <a:cubicBezTo>
                    <a:pt x="167425" y="455712"/>
                    <a:pt x="109469" y="431706"/>
                    <a:pt x="66738" y="388975"/>
                  </a:cubicBezTo>
                  <a:cubicBezTo>
                    <a:pt x="24006" y="346244"/>
                    <a:pt x="0" y="288287"/>
                    <a:pt x="0" y="227856"/>
                  </a:cubicBezTo>
                  <a:lnTo>
                    <a:pt x="0" y="227856"/>
                  </a:lnTo>
                  <a:cubicBezTo>
                    <a:pt x="0" y="167425"/>
                    <a:pt x="24006" y="109469"/>
                    <a:pt x="66738" y="66738"/>
                  </a:cubicBezTo>
                  <a:cubicBezTo>
                    <a:pt x="109469" y="24006"/>
                    <a:pt x="167425" y="0"/>
                    <a:pt x="2278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503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88"/>
                </a:lnSpc>
                <a:spcBef>
                  <a:spcPct val="0"/>
                </a:spcBef>
              </a:pPr>
              <a:r>
                <a:rPr lang="en-US" sz="26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Adquisición y transmisión de datos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53761" y="6786769"/>
            <a:ext cx="2677953" cy="1501447"/>
            <a:chOff x="0" y="0"/>
            <a:chExt cx="812800" cy="455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55712"/>
            </a:xfrm>
            <a:custGeom>
              <a:avLst/>
              <a:gdLst/>
              <a:ahLst/>
              <a:cxnLst/>
              <a:rect r="r" b="b" t="t" l="l"/>
              <a:pathLst>
                <a:path h="455712" w="812800">
                  <a:moveTo>
                    <a:pt x="227856" y="0"/>
                  </a:moveTo>
                  <a:lnTo>
                    <a:pt x="584944" y="0"/>
                  </a:lnTo>
                  <a:cubicBezTo>
                    <a:pt x="645375" y="0"/>
                    <a:pt x="703331" y="24006"/>
                    <a:pt x="746062" y="66738"/>
                  </a:cubicBezTo>
                  <a:cubicBezTo>
                    <a:pt x="788794" y="109469"/>
                    <a:pt x="812800" y="167425"/>
                    <a:pt x="812800" y="227856"/>
                  </a:cubicBezTo>
                  <a:lnTo>
                    <a:pt x="812800" y="227856"/>
                  </a:lnTo>
                  <a:cubicBezTo>
                    <a:pt x="812800" y="288287"/>
                    <a:pt x="788794" y="346244"/>
                    <a:pt x="746062" y="388975"/>
                  </a:cubicBezTo>
                  <a:cubicBezTo>
                    <a:pt x="703331" y="431706"/>
                    <a:pt x="645375" y="455712"/>
                    <a:pt x="584944" y="455712"/>
                  </a:cubicBezTo>
                  <a:lnTo>
                    <a:pt x="227856" y="455712"/>
                  </a:lnTo>
                  <a:cubicBezTo>
                    <a:pt x="167425" y="455712"/>
                    <a:pt x="109469" y="431706"/>
                    <a:pt x="66738" y="388975"/>
                  </a:cubicBezTo>
                  <a:cubicBezTo>
                    <a:pt x="24006" y="346244"/>
                    <a:pt x="0" y="288287"/>
                    <a:pt x="0" y="227856"/>
                  </a:cubicBezTo>
                  <a:lnTo>
                    <a:pt x="0" y="227856"/>
                  </a:lnTo>
                  <a:cubicBezTo>
                    <a:pt x="0" y="167425"/>
                    <a:pt x="24006" y="109469"/>
                    <a:pt x="66738" y="66738"/>
                  </a:cubicBezTo>
                  <a:cubicBezTo>
                    <a:pt x="109469" y="24006"/>
                    <a:pt x="167425" y="0"/>
                    <a:pt x="2278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503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88"/>
                </a:lnSpc>
                <a:spcBef>
                  <a:spcPct val="0"/>
                </a:spcBef>
              </a:pPr>
              <a:r>
                <a:rPr lang="en-US" sz="26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Activación de alertas y verificación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42433" y="6786769"/>
            <a:ext cx="2677953" cy="1034722"/>
            <a:chOff x="0" y="0"/>
            <a:chExt cx="812800" cy="3140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14054"/>
            </a:xfrm>
            <a:custGeom>
              <a:avLst/>
              <a:gdLst/>
              <a:ahLst/>
              <a:cxnLst/>
              <a:rect r="r" b="b" t="t" l="l"/>
              <a:pathLst>
                <a:path h="314054" w="812800">
                  <a:moveTo>
                    <a:pt x="157027" y="0"/>
                  </a:moveTo>
                  <a:lnTo>
                    <a:pt x="655773" y="0"/>
                  </a:lnTo>
                  <a:cubicBezTo>
                    <a:pt x="697419" y="0"/>
                    <a:pt x="737360" y="16544"/>
                    <a:pt x="766808" y="45992"/>
                  </a:cubicBezTo>
                  <a:cubicBezTo>
                    <a:pt x="796256" y="75440"/>
                    <a:pt x="812800" y="115381"/>
                    <a:pt x="812800" y="157027"/>
                  </a:cubicBezTo>
                  <a:lnTo>
                    <a:pt x="812800" y="157027"/>
                  </a:lnTo>
                  <a:cubicBezTo>
                    <a:pt x="812800" y="243751"/>
                    <a:pt x="742497" y="314054"/>
                    <a:pt x="655773" y="314054"/>
                  </a:cubicBezTo>
                  <a:lnTo>
                    <a:pt x="157027" y="314054"/>
                  </a:lnTo>
                  <a:cubicBezTo>
                    <a:pt x="115381" y="314054"/>
                    <a:pt x="75440" y="297510"/>
                    <a:pt x="45992" y="268062"/>
                  </a:cubicBezTo>
                  <a:cubicBezTo>
                    <a:pt x="16544" y="238614"/>
                    <a:pt x="0" y="198673"/>
                    <a:pt x="0" y="157027"/>
                  </a:cubicBezTo>
                  <a:lnTo>
                    <a:pt x="0" y="157027"/>
                  </a:lnTo>
                  <a:cubicBezTo>
                    <a:pt x="0" y="115381"/>
                    <a:pt x="16544" y="75440"/>
                    <a:pt x="45992" y="45992"/>
                  </a:cubicBezTo>
                  <a:cubicBezTo>
                    <a:pt x="75440" y="16544"/>
                    <a:pt x="115381" y="0"/>
                    <a:pt x="1570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12800" cy="361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88"/>
                </a:lnSpc>
                <a:spcBef>
                  <a:spcPct val="0"/>
                </a:spcBef>
              </a:pPr>
              <a:r>
                <a:rPr lang="en-US" sz="26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Procesamiento y análisis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13656" y="6786769"/>
            <a:ext cx="2677953" cy="1034722"/>
            <a:chOff x="0" y="0"/>
            <a:chExt cx="812800" cy="3140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314054"/>
            </a:xfrm>
            <a:custGeom>
              <a:avLst/>
              <a:gdLst/>
              <a:ahLst/>
              <a:cxnLst/>
              <a:rect r="r" b="b" t="t" l="l"/>
              <a:pathLst>
                <a:path h="314054" w="812800">
                  <a:moveTo>
                    <a:pt x="157027" y="0"/>
                  </a:moveTo>
                  <a:lnTo>
                    <a:pt x="655773" y="0"/>
                  </a:lnTo>
                  <a:cubicBezTo>
                    <a:pt x="697419" y="0"/>
                    <a:pt x="737360" y="16544"/>
                    <a:pt x="766808" y="45992"/>
                  </a:cubicBezTo>
                  <a:cubicBezTo>
                    <a:pt x="796256" y="75440"/>
                    <a:pt x="812800" y="115381"/>
                    <a:pt x="812800" y="157027"/>
                  </a:cubicBezTo>
                  <a:lnTo>
                    <a:pt x="812800" y="157027"/>
                  </a:lnTo>
                  <a:cubicBezTo>
                    <a:pt x="812800" y="243751"/>
                    <a:pt x="742497" y="314054"/>
                    <a:pt x="655773" y="314054"/>
                  </a:cubicBezTo>
                  <a:lnTo>
                    <a:pt x="157027" y="314054"/>
                  </a:lnTo>
                  <a:cubicBezTo>
                    <a:pt x="115381" y="314054"/>
                    <a:pt x="75440" y="297510"/>
                    <a:pt x="45992" y="268062"/>
                  </a:cubicBezTo>
                  <a:cubicBezTo>
                    <a:pt x="16544" y="238614"/>
                    <a:pt x="0" y="198673"/>
                    <a:pt x="0" y="157027"/>
                  </a:cubicBezTo>
                  <a:lnTo>
                    <a:pt x="0" y="157027"/>
                  </a:lnTo>
                  <a:cubicBezTo>
                    <a:pt x="0" y="115381"/>
                    <a:pt x="16544" y="75440"/>
                    <a:pt x="45992" y="45992"/>
                  </a:cubicBezTo>
                  <a:cubicBezTo>
                    <a:pt x="75440" y="16544"/>
                    <a:pt x="115381" y="0"/>
                    <a:pt x="1570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361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88"/>
                </a:lnSpc>
                <a:spcBef>
                  <a:spcPct val="0"/>
                </a:spcBef>
              </a:pPr>
              <a:r>
                <a:rPr lang="en-US" sz="26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Visualización y reporte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366223" y="5444269"/>
            <a:ext cx="1030373" cy="1178182"/>
          </a:xfrm>
          <a:custGeom>
            <a:avLst/>
            <a:gdLst/>
            <a:ahLst/>
            <a:cxnLst/>
            <a:rect r="r" b="b" t="t" l="l"/>
            <a:pathLst>
              <a:path h="1178182" w="1030373">
                <a:moveTo>
                  <a:pt x="0" y="0"/>
                </a:moveTo>
                <a:lnTo>
                  <a:pt x="1030374" y="0"/>
                </a:lnTo>
                <a:lnTo>
                  <a:pt x="1030374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3338298" y="5486774"/>
            <a:ext cx="1135677" cy="1135677"/>
          </a:xfrm>
          <a:custGeom>
            <a:avLst/>
            <a:gdLst/>
            <a:ahLst/>
            <a:cxnLst/>
            <a:rect r="r" b="b" t="t" l="l"/>
            <a:pathLst>
              <a:path h="1135677" w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0299609" y="5486774"/>
            <a:ext cx="1135677" cy="1135677"/>
          </a:xfrm>
          <a:custGeom>
            <a:avLst/>
            <a:gdLst/>
            <a:ahLst/>
            <a:cxnLst/>
            <a:rect r="r" b="b" t="t" l="l"/>
            <a:pathLst>
              <a:path h="1135677" w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3500971" y="2725503"/>
            <a:ext cx="11286059" cy="220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9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continuo y automatizado</a:t>
            </a:r>
          </a:p>
          <a:p>
            <a:pPr algn="ctr">
              <a:lnSpc>
                <a:spcPts val="5880"/>
              </a:lnSpc>
            </a:pPr>
            <a:r>
              <a:rPr lang="en-US" sz="4200" spc="9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garantizar actividad extractiva sostenible y transparente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950" y="-2033784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151301">
            <a:off x="11164674" y="6546853"/>
            <a:ext cx="8535602" cy="7976908"/>
          </a:xfrm>
          <a:custGeom>
            <a:avLst/>
            <a:gdLst/>
            <a:ahLst/>
            <a:cxnLst/>
            <a:rect r="r" b="b" t="t" l="l"/>
            <a:pathLst>
              <a:path h="7976908" w="8535602">
                <a:moveTo>
                  <a:pt x="0" y="0"/>
                </a:moveTo>
                <a:lnTo>
                  <a:pt x="8535602" y="0"/>
                </a:lnTo>
                <a:lnTo>
                  <a:pt x="8535602" y="7976908"/>
                </a:lnTo>
                <a:lnTo>
                  <a:pt x="0" y="797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2784585" y="4159659"/>
            <a:ext cx="4474715" cy="4186037"/>
            <a:chOff x="0" y="0"/>
            <a:chExt cx="997323" cy="9329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7323" cy="932983"/>
            </a:xfrm>
            <a:custGeom>
              <a:avLst/>
              <a:gdLst/>
              <a:ahLst/>
              <a:cxnLst/>
              <a:rect r="r" b="b" t="t" l="l"/>
              <a:pathLst>
                <a:path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9870" y="4159659"/>
            <a:ext cx="4474715" cy="4186037"/>
            <a:chOff x="0" y="0"/>
            <a:chExt cx="997323" cy="932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7323" cy="932983"/>
            </a:xfrm>
            <a:custGeom>
              <a:avLst/>
              <a:gdLst/>
              <a:ahLst/>
              <a:cxnLst/>
              <a:rect r="r" b="b" t="t" l="l"/>
              <a:pathLst>
                <a:path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50526" y="4159659"/>
            <a:ext cx="4474715" cy="4186037"/>
            <a:chOff x="0" y="0"/>
            <a:chExt cx="997323" cy="932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7323" cy="932983"/>
            </a:xfrm>
            <a:custGeom>
              <a:avLst/>
              <a:gdLst/>
              <a:ahLst/>
              <a:cxnLst/>
              <a:rect r="r" b="b" t="t" l="l"/>
              <a:pathLst>
                <a:path h="932983" w="997323">
                  <a:moveTo>
                    <a:pt x="102079" y="0"/>
                  </a:moveTo>
                  <a:lnTo>
                    <a:pt x="895245" y="0"/>
                  </a:lnTo>
                  <a:cubicBezTo>
                    <a:pt x="951621" y="0"/>
                    <a:pt x="997323" y="45702"/>
                    <a:pt x="997323" y="102079"/>
                  </a:cubicBezTo>
                  <a:lnTo>
                    <a:pt x="997323" y="830904"/>
                  </a:lnTo>
                  <a:cubicBezTo>
                    <a:pt x="997323" y="887281"/>
                    <a:pt x="951621" y="932983"/>
                    <a:pt x="895245" y="932983"/>
                  </a:cubicBezTo>
                  <a:lnTo>
                    <a:pt x="102079" y="932983"/>
                  </a:lnTo>
                  <a:cubicBezTo>
                    <a:pt x="45702" y="932983"/>
                    <a:pt x="0" y="887281"/>
                    <a:pt x="0" y="830904"/>
                  </a:cubicBezTo>
                  <a:lnTo>
                    <a:pt x="0" y="102079"/>
                  </a:lnTo>
                  <a:cubicBezTo>
                    <a:pt x="0" y="45702"/>
                    <a:pt x="45702" y="0"/>
                    <a:pt x="1020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3D8D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997323" cy="923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639089" y="1249819"/>
            <a:ext cx="8551821" cy="121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841"/>
              </a:lnSpc>
            </a:pPr>
            <a:r>
              <a:rPr lang="en-US" sz="7029" spc="66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PARAMETROS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25241" y="2231192"/>
            <a:ext cx="9626750" cy="1414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579"/>
              </a:lnSpc>
            </a:pPr>
            <a:r>
              <a:rPr lang="en-US" b="true" sz="8271" spc="777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MONITOREADOS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2784585" y="4159659"/>
            <a:ext cx="4474715" cy="1033825"/>
          </a:xfrm>
          <a:custGeom>
            <a:avLst/>
            <a:gdLst/>
            <a:ahLst/>
            <a:cxnLst/>
            <a:rect r="r" b="b" t="t" l="l"/>
            <a:pathLst>
              <a:path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7969870" y="4159659"/>
            <a:ext cx="4474715" cy="1033825"/>
          </a:xfrm>
          <a:custGeom>
            <a:avLst/>
            <a:gdLst/>
            <a:ahLst/>
            <a:cxnLst/>
            <a:rect r="r" b="b" t="t" l="l"/>
            <a:pathLst>
              <a:path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3150526" y="4159659"/>
            <a:ext cx="4474715" cy="1033825"/>
          </a:xfrm>
          <a:custGeom>
            <a:avLst/>
            <a:gdLst/>
            <a:ahLst/>
            <a:cxnLst/>
            <a:rect r="r" b="b" t="t" l="l"/>
            <a:pathLst>
              <a:path h="1033825" w="4474715">
                <a:moveTo>
                  <a:pt x="0" y="0"/>
                </a:moveTo>
                <a:lnTo>
                  <a:pt x="4474715" y="0"/>
                </a:lnTo>
                <a:lnTo>
                  <a:pt x="4474715" y="1033825"/>
                </a:lnTo>
                <a:lnTo>
                  <a:pt x="0" y="1033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47362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223549" y="4379742"/>
            <a:ext cx="3596786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ECOSISTEMA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02778" y="4379742"/>
            <a:ext cx="3804269" cy="128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SUELO</a:t>
            </a:r>
          </a:p>
          <a:p>
            <a:pPr algn="ctr">
              <a:lnSpc>
                <a:spcPts val="51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589490" y="4379742"/>
            <a:ext cx="3596786" cy="6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b="true" sz="3657" spc="153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AGUA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73235" y="5466952"/>
            <a:ext cx="3954584" cy="22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6"/>
              </a:lnSpc>
            </a:pPr>
            <a:r>
              <a:rPr lang="en-US" sz="3283" spc="7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Cobertura vegetal</a:t>
            </a:r>
          </a:p>
          <a:p>
            <a:pPr algn="ctr">
              <a:lnSpc>
                <a:spcPts val="4596"/>
              </a:lnSpc>
            </a:pPr>
            <a:r>
              <a:rPr lang="en-US" sz="3283" spc="7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Movimiento de fauna</a:t>
            </a:r>
          </a:p>
          <a:p>
            <a:pPr algn="ctr">
              <a:lnSpc>
                <a:spcPts val="4596"/>
              </a:lnSpc>
            </a:pPr>
            <a:r>
              <a:rPr lang="en-US" sz="3283" spc="7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Presencia de especies locales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02778" y="5731368"/>
            <a:ext cx="3898551" cy="287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6"/>
              </a:lnSpc>
            </a:pPr>
            <a:r>
              <a:rPr lang="en-US" sz="4183" spc="9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Humedad</a:t>
            </a:r>
          </a:p>
          <a:p>
            <a:pPr algn="ctr">
              <a:lnSpc>
                <a:spcPts val="5856"/>
              </a:lnSpc>
            </a:pPr>
            <a:r>
              <a:rPr lang="en-US" sz="4183" spc="9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Salinidad</a:t>
            </a:r>
          </a:p>
          <a:p>
            <a:pPr algn="ctr">
              <a:lnSpc>
                <a:spcPts val="5576"/>
              </a:lnSpc>
            </a:pPr>
          </a:p>
          <a:p>
            <a:pPr algn="ctr">
              <a:lnSpc>
                <a:spcPts val="557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150526" y="5457427"/>
            <a:ext cx="4476444" cy="230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5"/>
              </a:lnSpc>
            </a:pPr>
            <a:r>
              <a:rPr lang="en-US" sz="3310" spc="7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Nivel de agua en acuíferos</a:t>
            </a:r>
          </a:p>
          <a:p>
            <a:pPr algn="ctr">
              <a:lnSpc>
                <a:spcPts val="4635"/>
              </a:lnSpc>
            </a:pPr>
            <a:r>
              <a:rPr lang="en-US" sz="3310" spc="7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Calidad del agua (PH)</a:t>
            </a:r>
          </a:p>
          <a:p>
            <a:pPr algn="ctr">
              <a:lnSpc>
                <a:spcPts val="4635"/>
              </a:lnSpc>
            </a:pPr>
            <a:r>
              <a:rPr lang="en-US" sz="3310" spc="72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Volumen de extracción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1446812" y="7841762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10452176">
            <a:off x="15012576" y="-2759682"/>
            <a:ext cx="5482705" cy="4884592"/>
          </a:xfrm>
          <a:custGeom>
            <a:avLst/>
            <a:gdLst/>
            <a:ahLst/>
            <a:cxnLst/>
            <a:rect r="r" b="b" t="t" l="l"/>
            <a:pathLst>
              <a:path h="4884592" w="5482705">
                <a:moveTo>
                  <a:pt x="0" y="0"/>
                </a:moveTo>
                <a:lnTo>
                  <a:pt x="5482705" y="0"/>
                </a:lnTo>
                <a:lnTo>
                  <a:pt x="5482705" y="4884591"/>
                </a:lnTo>
                <a:lnTo>
                  <a:pt x="0" y="488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2732594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8108" y="196989"/>
            <a:ext cx="11907587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ANÁLISIS ECONÓMICO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90950" y="-2033784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9354559">
            <a:off x="12207201" y="5475509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5"/>
                </a:lnTo>
                <a:lnTo>
                  <a:pt x="0" y="7819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521968">
            <a:off x="-1614569" y="6194806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481148" y="3526029"/>
            <a:ext cx="1075359" cy="1178182"/>
          </a:xfrm>
          <a:custGeom>
            <a:avLst/>
            <a:gdLst/>
            <a:ahLst/>
            <a:cxnLst/>
            <a:rect r="r" b="b" t="t" l="l"/>
            <a:pathLst>
              <a:path h="1178182" w="1075359">
                <a:moveTo>
                  <a:pt x="0" y="0"/>
                </a:moveTo>
                <a:lnTo>
                  <a:pt x="1075358" y="0"/>
                </a:lnTo>
                <a:lnTo>
                  <a:pt x="1075358" y="1178182"/>
                </a:lnTo>
                <a:lnTo>
                  <a:pt x="0" y="1178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467113" y="5082720"/>
            <a:ext cx="2874329" cy="601913"/>
            <a:chOff x="0" y="0"/>
            <a:chExt cx="872403" cy="182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403" cy="182690"/>
            </a:xfrm>
            <a:custGeom>
              <a:avLst/>
              <a:gdLst/>
              <a:ahLst/>
              <a:cxnLst/>
              <a:rect r="r" b="b" t="t" l="l"/>
              <a:pathLst>
                <a:path h="182690" w="872403">
                  <a:moveTo>
                    <a:pt x="91345" y="0"/>
                  </a:moveTo>
                  <a:lnTo>
                    <a:pt x="781058" y="0"/>
                  </a:lnTo>
                  <a:cubicBezTo>
                    <a:pt x="805284" y="0"/>
                    <a:pt x="828518" y="9624"/>
                    <a:pt x="845649" y="26754"/>
                  </a:cubicBezTo>
                  <a:cubicBezTo>
                    <a:pt x="862779" y="43885"/>
                    <a:pt x="872403" y="67119"/>
                    <a:pt x="872403" y="91345"/>
                  </a:cubicBezTo>
                  <a:lnTo>
                    <a:pt x="872403" y="91345"/>
                  </a:lnTo>
                  <a:cubicBezTo>
                    <a:pt x="872403" y="141793"/>
                    <a:pt x="831507" y="182690"/>
                    <a:pt x="781058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72403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Medidas Iniciales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88216" y="6268570"/>
            <a:ext cx="2677953" cy="601913"/>
            <a:chOff x="0" y="0"/>
            <a:chExt cx="812800" cy="182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Valores objetivo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00754" y="6268570"/>
            <a:ext cx="3040494" cy="601913"/>
            <a:chOff x="0" y="0"/>
            <a:chExt cx="922837" cy="182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2837" cy="182690"/>
            </a:xfrm>
            <a:custGeom>
              <a:avLst/>
              <a:gdLst/>
              <a:ahLst/>
              <a:cxnLst/>
              <a:rect r="r" b="b" t="t" l="l"/>
              <a:pathLst>
                <a:path h="182690" w="922837">
                  <a:moveTo>
                    <a:pt x="91345" y="0"/>
                  </a:moveTo>
                  <a:lnTo>
                    <a:pt x="831492" y="0"/>
                  </a:lnTo>
                  <a:cubicBezTo>
                    <a:pt x="855718" y="0"/>
                    <a:pt x="878952" y="9624"/>
                    <a:pt x="896082" y="26754"/>
                  </a:cubicBezTo>
                  <a:cubicBezTo>
                    <a:pt x="913213" y="43885"/>
                    <a:pt x="922837" y="67119"/>
                    <a:pt x="922837" y="91345"/>
                  </a:cubicBezTo>
                  <a:lnTo>
                    <a:pt x="922837" y="91345"/>
                  </a:lnTo>
                  <a:cubicBezTo>
                    <a:pt x="922837" y="141793"/>
                    <a:pt x="881940" y="182690"/>
                    <a:pt x="831492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22837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Cobro Diferenciado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76888" y="6268570"/>
            <a:ext cx="2677953" cy="601913"/>
            <a:chOff x="0" y="0"/>
            <a:chExt cx="812800" cy="182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82690"/>
            </a:xfrm>
            <a:custGeom>
              <a:avLst/>
              <a:gdLst/>
              <a:ahLst/>
              <a:cxnLst/>
              <a:rect r="r" b="b" t="t" l="l"/>
              <a:pathLst>
                <a:path h="182690" w="812800">
                  <a:moveTo>
                    <a:pt x="91345" y="0"/>
                  </a:moveTo>
                  <a:lnTo>
                    <a:pt x="721455" y="0"/>
                  </a:lnTo>
                  <a:cubicBezTo>
                    <a:pt x="745681" y="0"/>
                    <a:pt x="768915" y="9624"/>
                    <a:pt x="786046" y="26754"/>
                  </a:cubicBezTo>
                  <a:cubicBezTo>
                    <a:pt x="803176" y="43885"/>
                    <a:pt x="812800" y="67119"/>
                    <a:pt x="812800" y="91345"/>
                  </a:cubicBezTo>
                  <a:lnTo>
                    <a:pt x="812800" y="91345"/>
                  </a:lnTo>
                  <a:cubicBezTo>
                    <a:pt x="812800" y="141793"/>
                    <a:pt x="771903" y="182690"/>
                    <a:pt x="721455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12800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Comparación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719642" y="6268570"/>
            <a:ext cx="3463458" cy="601913"/>
            <a:chOff x="0" y="0"/>
            <a:chExt cx="1051213" cy="1826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213" cy="182690"/>
            </a:xfrm>
            <a:custGeom>
              <a:avLst/>
              <a:gdLst/>
              <a:ahLst/>
              <a:cxnLst/>
              <a:rect r="r" b="b" t="t" l="l"/>
              <a:pathLst>
                <a:path h="182690" w="1051213">
                  <a:moveTo>
                    <a:pt x="91345" y="0"/>
                  </a:moveTo>
                  <a:lnTo>
                    <a:pt x="959868" y="0"/>
                  </a:lnTo>
                  <a:cubicBezTo>
                    <a:pt x="1010316" y="0"/>
                    <a:pt x="1051213" y="40897"/>
                    <a:pt x="1051213" y="91345"/>
                  </a:cubicBezTo>
                  <a:lnTo>
                    <a:pt x="1051213" y="91345"/>
                  </a:lnTo>
                  <a:cubicBezTo>
                    <a:pt x="1051213" y="115571"/>
                    <a:pt x="1041589" y="138805"/>
                    <a:pt x="1024458" y="155936"/>
                  </a:cubicBezTo>
                  <a:cubicBezTo>
                    <a:pt x="1007328" y="173066"/>
                    <a:pt x="984094" y="182690"/>
                    <a:pt x="959868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51213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Sistema de Categorías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1928472" y="4786879"/>
            <a:ext cx="1155723" cy="1321513"/>
          </a:xfrm>
          <a:custGeom>
            <a:avLst/>
            <a:gdLst/>
            <a:ahLst/>
            <a:cxnLst/>
            <a:rect r="r" b="b" t="t" l="l"/>
            <a:pathLst>
              <a:path h="1321513" w="1155723">
                <a:moveTo>
                  <a:pt x="0" y="0"/>
                </a:moveTo>
                <a:lnTo>
                  <a:pt x="1155723" y="0"/>
                </a:lnTo>
                <a:lnTo>
                  <a:pt x="1155723" y="1321513"/>
                </a:lnTo>
                <a:lnTo>
                  <a:pt x="0" y="13215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2336439" y="6003890"/>
            <a:ext cx="1135677" cy="1135677"/>
          </a:xfrm>
          <a:custGeom>
            <a:avLst/>
            <a:gdLst/>
            <a:ahLst/>
            <a:cxnLst/>
            <a:rect r="r" b="b" t="t" l="l"/>
            <a:pathLst>
              <a:path h="1135677" w="1135677">
                <a:moveTo>
                  <a:pt x="0" y="0"/>
                </a:moveTo>
                <a:lnTo>
                  <a:pt x="1135677" y="0"/>
                </a:lnTo>
                <a:lnTo>
                  <a:pt x="1135677" y="1135677"/>
                </a:lnTo>
                <a:lnTo>
                  <a:pt x="0" y="11356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0">
            <a:off x="1467113" y="7325727"/>
            <a:ext cx="2874329" cy="601913"/>
            <a:chOff x="0" y="0"/>
            <a:chExt cx="872403" cy="182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2403" cy="182690"/>
            </a:xfrm>
            <a:custGeom>
              <a:avLst/>
              <a:gdLst/>
              <a:ahLst/>
              <a:cxnLst/>
              <a:rect r="r" b="b" t="t" l="l"/>
              <a:pathLst>
                <a:path h="182690" w="872403">
                  <a:moveTo>
                    <a:pt x="91345" y="0"/>
                  </a:moveTo>
                  <a:lnTo>
                    <a:pt x="781058" y="0"/>
                  </a:lnTo>
                  <a:cubicBezTo>
                    <a:pt x="805284" y="0"/>
                    <a:pt x="828518" y="9624"/>
                    <a:pt x="845649" y="26754"/>
                  </a:cubicBezTo>
                  <a:cubicBezTo>
                    <a:pt x="862779" y="43885"/>
                    <a:pt x="872403" y="67119"/>
                    <a:pt x="872403" y="91345"/>
                  </a:cubicBezTo>
                  <a:lnTo>
                    <a:pt x="872403" y="91345"/>
                  </a:lnTo>
                  <a:cubicBezTo>
                    <a:pt x="872403" y="141793"/>
                    <a:pt x="831507" y="182690"/>
                    <a:pt x="781058" y="182690"/>
                  </a:cubicBezTo>
                  <a:lnTo>
                    <a:pt x="91345" y="182690"/>
                  </a:lnTo>
                  <a:cubicBezTo>
                    <a:pt x="67119" y="182690"/>
                    <a:pt x="43885" y="173066"/>
                    <a:pt x="26754" y="155936"/>
                  </a:cubicBezTo>
                  <a:cubicBezTo>
                    <a:pt x="9624" y="138805"/>
                    <a:pt x="0" y="115571"/>
                    <a:pt x="0" y="91345"/>
                  </a:cubicBezTo>
                  <a:lnTo>
                    <a:pt x="0" y="91345"/>
                  </a:lnTo>
                  <a:cubicBezTo>
                    <a:pt x="0" y="67119"/>
                    <a:pt x="9624" y="43885"/>
                    <a:pt x="26754" y="26754"/>
                  </a:cubicBezTo>
                  <a:cubicBezTo>
                    <a:pt x="43885" y="9624"/>
                    <a:pt x="67119" y="0"/>
                    <a:pt x="913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253754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72403" cy="230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8"/>
                </a:lnSpc>
                <a:spcBef>
                  <a:spcPct val="0"/>
                </a:spcBef>
              </a:pPr>
              <a:r>
                <a:rPr lang="en-US" sz="2534">
                  <a:solidFill>
                    <a:srgbClr val="2537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Medidas Estimadas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450298" y="5016720"/>
            <a:ext cx="1131132" cy="987170"/>
          </a:xfrm>
          <a:custGeom>
            <a:avLst/>
            <a:gdLst/>
            <a:ahLst/>
            <a:cxnLst/>
            <a:rect r="r" b="b" t="t" l="l"/>
            <a:pathLst>
              <a:path h="987170" w="1131132">
                <a:moveTo>
                  <a:pt x="0" y="0"/>
                </a:moveTo>
                <a:lnTo>
                  <a:pt x="1131132" y="0"/>
                </a:lnTo>
                <a:lnTo>
                  <a:pt x="1131132" y="987170"/>
                </a:lnTo>
                <a:lnTo>
                  <a:pt x="0" y="9871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501210" y="5016720"/>
            <a:ext cx="1051965" cy="1051965"/>
          </a:xfrm>
          <a:custGeom>
            <a:avLst/>
            <a:gdLst/>
            <a:ahLst/>
            <a:cxnLst/>
            <a:rect r="r" b="b" t="t" l="l"/>
            <a:pathLst>
              <a:path h="1051965" w="1051965">
                <a:moveTo>
                  <a:pt x="0" y="0"/>
                </a:moveTo>
                <a:lnTo>
                  <a:pt x="1051965" y="0"/>
                </a:lnTo>
                <a:lnTo>
                  <a:pt x="1051965" y="1051965"/>
                </a:lnTo>
                <a:lnTo>
                  <a:pt x="0" y="10519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464747" y="4891381"/>
            <a:ext cx="1112508" cy="1112508"/>
          </a:xfrm>
          <a:custGeom>
            <a:avLst/>
            <a:gdLst/>
            <a:ahLst/>
            <a:cxnLst/>
            <a:rect r="r" b="b" t="t" l="l"/>
            <a:pathLst>
              <a:path h="1112508" w="1112508">
                <a:moveTo>
                  <a:pt x="0" y="0"/>
                </a:moveTo>
                <a:lnTo>
                  <a:pt x="1112508" y="0"/>
                </a:lnTo>
                <a:lnTo>
                  <a:pt x="1112508" y="1112509"/>
                </a:lnTo>
                <a:lnTo>
                  <a:pt x="0" y="111250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0923" y="1633476"/>
            <a:ext cx="13211064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25526" y="340428"/>
            <a:ext cx="10836948" cy="1757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4"/>
              </a:lnSpc>
            </a:pPr>
            <a:r>
              <a:rPr lang="en-US" sz="5067" spc="47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CREACIÓN DEL PROTOCOLO DE CUMPLIMIENTO OBLIGATORIO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5593320" y="-13086803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276067" y="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354550" y="43567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466144" y="-3563063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7835905" y="3961811"/>
            <a:ext cx="4161751" cy="1184729"/>
            <a:chOff x="0" y="0"/>
            <a:chExt cx="2565722" cy="730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9BB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10800000">
            <a:off x="6290344" y="5144637"/>
            <a:ext cx="4161751" cy="1184729"/>
            <a:chOff x="0" y="0"/>
            <a:chExt cx="2565722" cy="730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9C6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35905" y="6329365"/>
            <a:ext cx="4161751" cy="1184729"/>
            <a:chOff x="0" y="0"/>
            <a:chExt cx="2565722" cy="730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75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10800000">
            <a:off x="6549119" y="7476041"/>
            <a:ext cx="4161751" cy="1184729"/>
            <a:chOff x="0" y="0"/>
            <a:chExt cx="2565722" cy="7303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9BB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35905" y="8706445"/>
            <a:ext cx="4161751" cy="1184729"/>
            <a:chOff x="0" y="0"/>
            <a:chExt cx="2565722" cy="7303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C9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6290344" y="2777082"/>
            <a:ext cx="4161751" cy="1184729"/>
            <a:chOff x="0" y="0"/>
            <a:chExt cx="2565722" cy="7303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5722" cy="730386"/>
            </a:xfrm>
            <a:custGeom>
              <a:avLst/>
              <a:gdLst/>
              <a:ahLst/>
              <a:cxnLst/>
              <a:rect r="r" b="b" t="t" l="l"/>
              <a:pathLst>
                <a:path h="730386" w="2565722">
                  <a:moveTo>
                    <a:pt x="0" y="0"/>
                  </a:moveTo>
                  <a:lnTo>
                    <a:pt x="2362522" y="0"/>
                  </a:lnTo>
                  <a:lnTo>
                    <a:pt x="2565722" y="365193"/>
                  </a:lnTo>
                  <a:lnTo>
                    <a:pt x="2362522" y="730386"/>
                  </a:lnTo>
                  <a:lnTo>
                    <a:pt x="0" y="730386"/>
                  </a:lnTo>
                  <a:lnTo>
                    <a:pt x="203200" y="365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375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38100"/>
              <a:ext cx="2311722" cy="7684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98578" y="5394189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29994" y="4211336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44140" y="6578918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98578" y="7773144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29994" y="8955970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98578" y="3028483"/>
            <a:ext cx="2745282" cy="62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8716" y="3114160"/>
            <a:ext cx="4569449" cy="48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Investigación jurídica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44074" y="4068400"/>
            <a:ext cx="521901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Redacción de Normativa de Obligatoriedad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9150" y="5422764"/>
            <a:ext cx="521901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Definición de sanciones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70463" y="9041648"/>
            <a:ext cx="536623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Revisión y presentación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0895" y="7811231"/>
            <a:ext cx="456944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Consulta y validación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44074" y="6533066"/>
            <a:ext cx="521901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4"/>
              </a:lnSpc>
            </a:pPr>
            <a:r>
              <a:rPr lang="en-US" sz="30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Elaboración del Marco de Regalías Progresivas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44177" y="-3241871"/>
            <a:ext cx="19050326" cy="5975359"/>
            <a:chOff x="0" y="0"/>
            <a:chExt cx="5017370" cy="15737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7370" cy="1573757"/>
            </a:xfrm>
            <a:custGeom>
              <a:avLst/>
              <a:gdLst/>
              <a:ahLst/>
              <a:cxnLst/>
              <a:rect r="r" b="b" t="t" l="l"/>
              <a:pathLst>
                <a:path h="1573757" w="5017370">
                  <a:moveTo>
                    <a:pt x="0" y="0"/>
                  </a:moveTo>
                  <a:lnTo>
                    <a:pt x="5017370" y="0"/>
                  </a:lnTo>
                  <a:lnTo>
                    <a:pt x="5017370" y="1573757"/>
                  </a:lnTo>
                  <a:lnTo>
                    <a:pt x="0" y="1573757"/>
                  </a:lnTo>
                  <a:close/>
                </a:path>
              </a:pathLst>
            </a:custGeom>
            <a:solidFill>
              <a:srgbClr val="25375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5017370" cy="1564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719458">
            <a:off x="-471660" y="2555446"/>
            <a:ext cx="19305539" cy="3249078"/>
          </a:xfrm>
          <a:custGeom>
            <a:avLst/>
            <a:gdLst/>
            <a:ahLst/>
            <a:cxnLst/>
            <a:rect r="r" b="b" t="t" l="l"/>
            <a:pathLst>
              <a:path h="3249078" w="19305539">
                <a:moveTo>
                  <a:pt x="0" y="0"/>
                </a:moveTo>
                <a:lnTo>
                  <a:pt x="19305539" y="0"/>
                </a:lnTo>
                <a:lnTo>
                  <a:pt x="19305539" y="3249078"/>
                </a:lnTo>
                <a:lnTo>
                  <a:pt x="0" y="32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3104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5115389" y="842668"/>
            <a:ext cx="8324690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PERSONAL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4248" y="-713185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4452" y="252496"/>
            <a:ext cx="1488904" cy="1931362"/>
          </a:xfrm>
          <a:custGeom>
            <a:avLst/>
            <a:gdLst/>
            <a:ahLst/>
            <a:cxnLst/>
            <a:rect r="r" b="b" t="t" l="l"/>
            <a:pathLst>
              <a:path h="1931362" w="1488904">
                <a:moveTo>
                  <a:pt x="0" y="0"/>
                </a:moveTo>
                <a:lnTo>
                  <a:pt x="1488904" y="0"/>
                </a:lnTo>
                <a:lnTo>
                  <a:pt x="1488904" y="1931362"/>
                </a:lnTo>
                <a:lnTo>
                  <a:pt x="0" y="193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93998" y="8734875"/>
            <a:ext cx="2476208" cy="3212062"/>
          </a:xfrm>
          <a:custGeom>
            <a:avLst/>
            <a:gdLst/>
            <a:ahLst/>
            <a:cxnLst/>
            <a:rect r="r" b="b" t="t" l="l"/>
            <a:pathLst>
              <a:path h="3212062" w="2476208">
                <a:moveTo>
                  <a:pt x="0" y="0"/>
                </a:moveTo>
                <a:lnTo>
                  <a:pt x="2476208" y="0"/>
                </a:lnTo>
                <a:lnTo>
                  <a:pt x="2476208" y="3212061"/>
                </a:lnTo>
                <a:lnTo>
                  <a:pt x="0" y="3212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9317080">
            <a:off x="1368932" y="7153636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7" y="0"/>
                </a:lnTo>
                <a:lnTo>
                  <a:pt x="3053227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9317080">
            <a:off x="4348558" y="7189760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7" y="0"/>
                </a:lnTo>
                <a:lnTo>
                  <a:pt x="3053227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447191" y="6030209"/>
            <a:ext cx="427980" cy="4279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9317080">
            <a:off x="6942252" y="7153636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8" y="0"/>
                </a:lnTo>
                <a:lnTo>
                  <a:pt x="3053228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927101" y="6030209"/>
            <a:ext cx="427980" cy="4279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9317080">
            <a:off x="11077647" y="2588277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8" y="0"/>
                </a:lnTo>
                <a:lnTo>
                  <a:pt x="3053228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288769" y="6030209"/>
            <a:ext cx="427980" cy="4279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9317080">
            <a:off x="14284099" y="2588277"/>
            <a:ext cx="3053228" cy="3162477"/>
          </a:xfrm>
          <a:custGeom>
            <a:avLst/>
            <a:gdLst/>
            <a:ahLst/>
            <a:cxnLst/>
            <a:rect r="r" b="b" t="t" l="l"/>
            <a:pathLst>
              <a:path h="3162477" w="3053228">
                <a:moveTo>
                  <a:pt x="0" y="0"/>
                </a:moveTo>
                <a:lnTo>
                  <a:pt x="3053228" y="0"/>
                </a:lnTo>
                <a:lnTo>
                  <a:pt x="3053228" y="3162477"/>
                </a:lnTo>
                <a:lnTo>
                  <a:pt x="0" y="31624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5495221" y="6030209"/>
            <a:ext cx="427980" cy="42798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9ABA"/>
            </a:solidFill>
            <a:ln w="38100" cap="sq">
              <a:solidFill>
                <a:srgbClr val="8C9AB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329379" y="8493490"/>
            <a:ext cx="1091585" cy="895099"/>
          </a:xfrm>
          <a:custGeom>
            <a:avLst/>
            <a:gdLst/>
            <a:ahLst/>
            <a:cxnLst/>
            <a:rect r="r" b="b" t="t" l="l"/>
            <a:pathLst>
              <a:path h="895099" w="1091585">
                <a:moveTo>
                  <a:pt x="0" y="0"/>
                </a:moveTo>
                <a:lnTo>
                  <a:pt x="1091585" y="0"/>
                </a:lnTo>
                <a:lnTo>
                  <a:pt x="1091585" y="895099"/>
                </a:lnTo>
                <a:lnTo>
                  <a:pt x="0" y="895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7614802" y="8038573"/>
            <a:ext cx="1312299" cy="1601211"/>
          </a:xfrm>
          <a:custGeom>
            <a:avLst/>
            <a:gdLst/>
            <a:ahLst/>
            <a:cxnLst/>
            <a:rect r="r" b="b" t="t" l="l"/>
            <a:pathLst>
              <a:path h="1601211" w="1312299">
                <a:moveTo>
                  <a:pt x="0" y="0"/>
                </a:moveTo>
                <a:lnTo>
                  <a:pt x="1312299" y="0"/>
                </a:lnTo>
                <a:lnTo>
                  <a:pt x="1312299" y="1601211"/>
                </a:lnTo>
                <a:lnTo>
                  <a:pt x="0" y="1601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992429" y="3784935"/>
            <a:ext cx="1433565" cy="1193768"/>
          </a:xfrm>
          <a:custGeom>
            <a:avLst/>
            <a:gdLst/>
            <a:ahLst/>
            <a:cxnLst/>
            <a:rect r="r" b="b" t="t" l="l"/>
            <a:pathLst>
              <a:path h="1193768" w="1433565">
                <a:moveTo>
                  <a:pt x="0" y="0"/>
                </a:moveTo>
                <a:lnTo>
                  <a:pt x="1433565" y="0"/>
                </a:lnTo>
                <a:lnTo>
                  <a:pt x="1433565" y="1193768"/>
                </a:lnTo>
                <a:lnTo>
                  <a:pt x="0" y="11937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191474" y="8242295"/>
            <a:ext cx="1397490" cy="1397490"/>
          </a:xfrm>
          <a:custGeom>
            <a:avLst/>
            <a:gdLst/>
            <a:ahLst/>
            <a:cxnLst/>
            <a:rect r="r" b="b" t="t" l="l"/>
            <a:pathLst>
              <a:path h="1397490" w="1397490">
                <a:moveTo>
                  <a:pt x="0" y="0"/>
                </a:moveTo>
                <a:lnTo>
                  <a:pt x="1397490" y="0"/>
                </a:lnTo>
                <a:lnTo>
                  <a:pt x="1397490" y="1397489"/>
                </a:lnTo>
                <a:lnTo>
                  <a:pt x="0" y="13974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631125" y="3510214"/>
            <a:ext cx="1743269" cy="1743269"/>
          </a:xfrm>
          <a:custGeom>
            <a:avLst/>
            <a:gdLst/>
            <a:ahLst/>
            <a:cxnLst/>
            <a:rect r="r" b="b" t="t" l="l"/>
            <a:pathLst>
              <a:path h="1743269" w="1743269">
                <a:moveTo>
                  <a:pt x="0" y="0"/>
                </a:moveTo>
                <a:lnTo>
                  <a:pt x="1743269" y="0"/>
                </a:lnTo>
                <a:lnTo>
                  <a:pt x="1743269" y="1743269"/>
                </a:lnTo>
                <a:lnTo>
                  <a:pt x="0" y="174326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773030" y="6593762"/>
            <a:ext cx="2836889" cy="101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6"/>
              </a:lnSpc>
              <a:spcBef>
                <a:spcPct val="0"/>
              </a:spcBef>
            </a:pPr>
            <a:r>
              <a:rPr lang="en-US" b="true" sz="2883" spc="129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económico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89676" y="6852748"/>
            <a:ext cx="2543011" cy="506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6"/>
              </a:lnSpc>
              <a:spcBef>
                <a:spcPct val="0"/>
              </a:spcBef>
            </a:pPr>
            <a:r>
              <a:rPr lang="en-US" b="true" sz="2883" spc="129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legal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96148" y="6852778"/>
            <a:ext cx="3369924" cy="50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6"/>
              </a:lnSpc>
              <a:spcBef>
                <a:spcPct val="0"/>
              </a:spcBef>
            </a:pPr>
            <a:r>
              <a:rPr lang="en-US" b="true" sz="2883" spc="129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Mano de obra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61373" y="6610992"/>
            <a:ext cx="2482773" cy="101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6"/>
              </a:lnSpc>
              <a:spcBef>
                <a:spcPct val="0"/>
              </a:spcBef>
            </a:pPr>
            <a:r>
              <a:rPr lang="en-US" b="true" sz="2883" spc="129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ambiental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58264" y="6852778"/>
            <a:ext cx="2901036" cy="50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6"/>
              </a:lnSpc>
              <a:spcBef>
                <a:spcPct val="0"/>
              </a:spcBef>
            </a:pPr>
            <a:r>
              <a:rPr lang="en-US" b="true" sz="2883" spc="129">
                <a:solidFill>
                  <a:srgbClr val="2A2E3A"/>
                </a:solidFill>
                <a:latin typeface="Poppins Bold"/>
                <a:ea typeface="Poppins Bold"/>
                <a:cs typeface="Poppins Bold"/>
                <a:sym typeface="Poppins Bold"/>
              </a:rPr>
              <a:t>Equipo social</a:t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611885" y="-490643"/>
            <a:ext cx="10880354" cy="118737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0950" y="-2033784"/>
            <a:ext cx="5544196" cy="5181303"/>
          </a:xfrm>
          <a:custGeom>
            <a:avLst/>
            <a:gdLst/>
            <a:ahLst/>
            <a:cxnLst/>
            <a:rect r="r" b="b" t="t" l="l"/>
            <a:pathLst>
              <a:path h="5181303" w="5544196">
                <a:moveTo>
                  <a:pt x="0" y="0"/>
                </a:moveTo>
                <a:lnTo>
                  <a:pt x="5544196" y="0"/>
                </a:lnTo>
                <a:lnTo>
                  <a:pt x="5544196" y="5181303"/>
                </a:lnTo>
                <a:lnTo>
                  <a:pt x="0" y="518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9354559">
            <a:off x="12207201" y="4178390"/>
            <a:ext cx="8367389" cy="7819705"/>
          </a:xfrm>
          <a:custGeom>
            <a:avLst/>
            <a:gdLst/>
            <a:ahLst/>
            <a:cxnLst/>
            <a:rect r="r" b="b" t="t" l="l"/>
            <a:pathLst>
              <a:path h="7819705" w="8367389">
                <a:moveTo>
                  <a:pt x="0" y="0"/>
                </a:moveTo>
                <a:lnTo>
                  <a:pt x="8367389" y="0"/>
                </a:lnTo>
                <a:lnTo>
                  <a:pt x="8367389" y="7819706"/>
                </a:lnTo>
                <a:lnTo>
                  <a:pt x="0" y="7819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3112837" y="-165991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521968">
            <a:off x="-1614569" y="6194806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56803" y="239050"/>
            <a:ext cx="13974394" cy="11365418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0">
            <a:off x="7147437" y="4713525"/>
            <a:ext cx="3105273" cy="2416467"/>
          </a:xfrm>
          <a:custGeom>
            <a:avLst/>
            <a:gdLst/>
            <a:ahLst/>
            <a:cxnLst/>
            <a:rect r="r" b="b" t="t" l="l"/>
            <a:pathLst>
              <a:path h="2416467" w="3105273">
                <a:moveTo>
                  <a:pt x="0" y="0"/>
                </a:moveTo>
                <a:lnTo>
                  <a:pt x="3105273" y="0"/>
                </a:lnTo>
                <a:lnTo>
                  <a:pt x="3105273" y="2416467"/>
                </a:lnTo>
                <a:lnTo>
                  <a:pt x="0" y="2416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51158" y="48151"/>
            <a:ext cx="7185683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58"/>
              </a:lnSpc>
              <a:spcBef>
                <a:spcPct val="0"/>
              </a:spcBef>
            </a:pPr>
            <a:r>
              <a:rPr lang="en-US" b="true" sz="7327" spc="688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PRESUPUESTO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501204">
            <a:off x="-4899086" y="-8147683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89"/>
                </a:lnTo>
                <a:lnTo>
                  <a:pt x="0" y="13143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11434890" y="2417332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301337">
            <a:off x="9883234" y="-2150579"/>
            <a:ext cx="12901483" cy="11165647"/>
          </a:xfrm>
          <a:custGeom>
            <a:avLst/>
            <a:gdLst/>
            <a:ahLst/>
            <a:cxnLst/>
            <a:rect r="r" b="b" t="t" l="l"/>
            <a:pathLst>
              <a:path h="11165647" w="12901483">
                <a:moveTo>
                  <a:pt x="0" y="0"/>
                </a:moveTo>
                <a:lnTo>
                  <a:pt x="12901483" y="0"/>
                </a:lnTo>
                <a:lnTo>
                  <a:pt x="12901483" y="11165647"/>
                </a:lnTo>
                <a:lnTo>
                  <a:pt x="0" y="11165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458160">
            <a:off x="-3775194" y="6616870"/>
            <a:ext cx="8481393" cy="7340260"/>
          </a:xfrm>
          <a:custGeom>
            <a:avLst/>
            <a:gdLst/>
            <a:ahLst/>
            <a:cxnLst/>
            <a:rect r="r" b="b" t="t" l="l"/>
            <a:pathLst>
              <a:path h="7340260" w="8481393">
                <a:moveTo>
                  <a:pt x="0" y="0"/>
                </a:moveTo>
                <a:lnTo>
                  <a:pt x="8481393" y="0"/>
                </a:lnTo>
                <a:lnTo>
                  <a:pt x="8481393" y="7340260"/>
                </a:lnTo>
                <a:lnTo>
                  <a:pt x="0" y="73402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37525" y="292570"/>
            <a:ext cx="6411555" cy="13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26"/>
              </a:lnSpc>
            </a:pPr>
            <a:r>
              <a:rPr lang="en-US" b="true" sz="7662" spc="720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CONTENIDO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85852" y="1830944"/>
            <a:ext cx="10986181" cy="825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ejecución e implementación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Monitoreo ambiental continuo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Fortalecimiento de la confianza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regalías diferenciadas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Protocolo de cumplimiento obligatorio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Cronograma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sz="4234" spc="93" strike="noStrike" u="none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Presupuesto</a:t>
            </a:r>
          </a:p>
          <a:p>
            <a:pPr algn="l" marL="914211" indent="-457105" lvl="1">
              <a:lnSpc>
                <a:spcPts val="5928"/>
              </a:lnSpc>
              <a:buFont typeface="Arial"/>
              <a:buChar char="•"/>
            </a:pPr>
            <a:r>
              <a:rPr lang="en-US" b="true" sz="4234" spc="93" strike="noStrike" u="none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5259" y="136213"/>
            <a:ext cx="6889281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461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1329998" y="-1574727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155139" y="-82287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9"/>
                </a:lnTo>
                <a:lnTo>
                  <a:pt x="0" y="61269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478627" y="1685723"/>
            <a:ext cx="0" cy="6915554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8502801" y="331078"/>
            <a:ext cx="10116277" cy="9454121"/>
          </a:xfrm>
          <a:custGeom>
            <a:avLst/>
            <a:gdLst/>
            <a:ahLst/>
            <a:cxnLst/>
            <a:rect r="r" b="b" t="t" l="l"/>
            <a:pathLst>
              <a:path h="9454121" w="10116277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0042" y="7499826"/>
            <a:ext cx="822081" cy="822081"/>
          </a:xfrm>
          <a:custGeom>
            <a:avLst/>
            <a:gdLst/>
            <a:ahLst/>
            <a:cxnLst/>
            <a:rect r="r" b="b" t="t" l="l"/>
            <a:pathLst>
              <a:path h="822081" w="822081">
                <a:moveTo>
                  <a:pt x="0" y="0"/>
                </a:moveTo>
                <a:lnTo>
                  <a:pt x="822081" y="0"/>
                </a:lnTo>
                <a:lnTo>
                  <a:pt x="822081" y="822082"/>
                </a:lnTo>
                <a:lnTo>
                  <a:pt x="0" y="822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52370" y="1673018"/>
            <a:ext cx="6441103" cy="347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51"/>
              </a:lnSpc>
            </a:pPr>
            <a:r>
              <a:rPr lang="en-US" b="true" sz="9965" spc="936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19134" y="5463121"/>
            <a:ext cx="6090644" cy="937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3"/>
              </a:lnSpc>
            </a:pPr>
            <a:r>
              <a:rPr lang="en-US" sz="5459" spc="120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POR SU ATENCIÓN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6303" y="7565503"/>
            <a:ext cx="6417697" cy="61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78"/>
              </a:lnSpc>
              <a:spcBef>
                <a:spcPct val="0"/>
              </a:spcBef>
            </a:pPr>
            <a:r>
              <a:rPr lang="en-US" sz="3556" spc="78">
                <a:solidFill>
                  <a:srgbClr val="EDE8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consultasminerassa@gmail.com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51985" y="8038428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65591" y="4474660"/>
            <a:ext cx="1042814" cy="940429"/>
          </a:xfrm>
          <a:custGeom>
            <a:avLst/>
            <a:gdLst/>
            <a:ahLst/>
            <a:cxnLst/>
            <a:rect r="r" b="b" t="t" l="l"/>
            <a:pathLst>
              <a:path h="940429" w="1042814">
                <a:moveTo>
                  <a:pt x="0" y="0"/>
                </a:moveTo>
                <a:lnTo>
                  <a:pt x="1042814" y="0"/>
                </a:lnTo>
                <a:lnTo>
                  <a:pt x="1042814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30396" y="4394900"/>
            <a:ext cx="571097" cy="940429"/>
          </a:xfrm>
          <a:custGeom>
            <a:avLst/>
            <a:gdLst/>
            <a:ahLst/>
            <a:cxnLst/>
            <a:rect r="r" b="b" t="t" l="l"/>
            <a:pathLst>
              <a:path h="940429" w="571097">
                <a:moveTo>
                  <a:pt x="0" y="0"/>
                </a:moveTo>
                <a:lnTo>
                  <a:pt x="571097" y="0"/>
                </a:lnTo>
                <a:lnTo>
                  <a:pt x="571097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44477" y="8038624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95586" y="3207861"/>
            <a:ext cx="1040716" cy="940429"/>
          </a:xfrm>
          <a:custGeom>
            <a:avLst/>
            <a:gdLst/>
            <a:ahLst/>
            <a:cxnLst/>
            <a:rect r="r" b="b" t="t" l="l"/>
            <a:pathLst>
              <a:path h="940429" w="1040716">
                <a:moveTo>
                  <a:pt x="0" y="0"/>
                </a:moveTo>
                <a:lnTo>
                  <a:pt x="1040716" y="0"/>
                </a:lnTo>
                <a:lnTo>
                  <a:pt x="1040716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78226" y="3210943"/>
            <a:ext cx="1014188" cy="940429"/>
          </a:xfrm>
          <a:custGeom>
            <a:avLst/>
            <a:gdLst/>
            <a:ahLst/>
            <a:cxnLst/>
            <a:rect r="r" b="b" t="t" l="l"/>
            <a:pathLst>
              <a:path h="940429" w="1014188">
                <a:moveTo>
                  <a:pt x="0" y="0"/>
                </a:moveTo>
                <a:lnTo>
                  <a:pt x="1014188" y="0"/>
                </a:lnTo>
                <a:lnTo>
                  <a:pt x="1014188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43468" y="8038820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8"/>
                </a:lnTo>
                <a:lnTo>
                  <a:pt x="0" y="9404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61125" y="8039015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8" y="0"/>
                </a:lnTo>
                <a:lnTo>
                  <a:pt x="940428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99289" y="8039211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8" y="0"/>
                </a:lnTo>
                <a:lnTo>
                  <a:pt x="940428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016783" y="8039407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77211" y="3217106"/>
            <a:ext cx="571097" cy="940429"/>
          </a:xfrm>
          <a:custGeom>
            <a:avLst/>
            <a:gdLst/>
            <a:ahLst/>
            <a:cxnLst/>
            <a:rect r="r" b="b" t="t" l="l"/>
            <a:pathLst>
              <a:path h="940429" w="571097">
                <a:moveTo>
                  <a:pt x="0" y="0"/>
                </a:moveTo>
                <a:lnTo>
                  <a:pt x="571096" y="0"/>
                </a:lnTo>
                <a:lnTo>
                  <a:pt x="571096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26921" y="8039603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51985" y="6847892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544477" y="6848088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339717" y="3204779"/>
            <a:ext cx="1042814" cy="940429"/>
          </a:xfrm>
          <a:custGeom>
            <a:avLst/>
            <a:gdLst/>
            <a:ahLst/>
            <a:cxnLst/>
            <a:rect r="r" b="b" t="t" l="l"/>
            <a:pathLst>
              <a:path h="940429" w="1042814">
                <a:moveTo>
                  <a:pt x="0" y="0"/>
                </a:moveTo>
                <a:lnTo>
                  <a:pt x="1042815" y="0"/>
                </a:lnTo>
                <a:lnTo>
                  <a:pt x="1042815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35873" y="6848284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8"/>
                </a:lnTo>
                <a:lnTo>
                  <a:pt x="0" y="940428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76218" y="3220188"/>
            <a:ext cx="1200083" cy="940429"/>
          </a:xfrm>
          <a:custGeom>
            <a:avLst/>
            <a:gdLst/>
            <a:ahLst/>
            <a:cxnLst/>
            <a:rect r="r" b="b" t="t" l="l"/>
            <a:pathLst>
              <a:path h="940429" w="1200083">
                <a:moveTo>
                  <a:pt x="0" y="0"/>
                </a:moveTo>
                <a:lnTo>
                  <a:pt x="1200084" y="0"/>
                </a:lnTo>
                <a:lnTo>
                  <a:pt x="1200084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42886" y="6852835"/>
            <a:ext cx="933332" cy="933332"/>
          </a:xfrm>
          <a:custGeom>
            <a:avLst/>
            <a:gdLst/>
            <a:ahLst/>
            <a:cxnLst/>
            <a:rect r="r" b="b" t="t" l="l"/>
            <a:pathLst>
              <a:path h="933332" w="933332">
                <a:moveTo>
                  <a:pt x="0" y="0"/>
                </a:moveTo>
                <a:lnTo>
                  <a:pt x="933332" y="0"/>
                </a:lnTo>
                <a:lnTo>
                  <a:pt x="933332" y="933332"/>
                </a:lnTo>
                <a:lnTo>
                  <a:pt x="0" y="93333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99289" y="6848479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8" y="0"/>
                </a:lnTo>
                <a:lnTo>
                  <a:pt x="940428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084589" y="6851220"/>
            <a:ext cx="747213" cy="940429"/>
          </a:xfrm>
          <a:custGeom>
            <a:avLst/>
            <a:gdLst/>
            <a:ahLst/>
            <a:cxnLst/>
            <a:rect r="r" b="b" t="t" l="l"/>
            <a:pathLst>
              <a:path h="940429" w="747213">
                <a:moveTo>
                  <a:pt x="0" y="0"/>
                </a:moveTo>
                <a:lnTo>
                  <a:pt x="747214" y="0"/>
                </a:lnTo>
                <a:lnTo>
                  <a:pt x="747214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495586" y="6848675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851985" y="5658472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392964" y="5658668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035873" y="5658864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676958" y="5659060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8"/>
                </a:lnTo>
                <a:lnTo>
                  <a:pt x="0" y="940428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43991" y="5661017"/>
            <a:ext cx="973648" cy="973648"/>
          </a:xfrm>
          <a:custGeom>
            <a:avLst/>
            <a:gdLst/>
            <a:ahLst/>
            <a:cxnLst/>
            <a:rect r="r" b="b" t="t" l="l"/>
            <a:pathLst>
              <a:path h="973648" w="973648">
                <a:moveTo>
                  <a:pt x="0" y="0"/>
                </a:moveTo>
                <a:lnTo>
                  <a:pt x="973649" y="0"/>
                </a:lnTo>
                <a:lnTo>
                  <a:pt x="973649" y="973649"/>
                </a:lnTo>
                <a:lnTo>
                  <a:pt x="0" y="973649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86469" y="5694433"/>
            <a:ext cx="921936" cy="1010089"/>
          </a:xfrm>
          <a:custGeom>
            <a:avLst/>
            <a:gdLst/>
            <a:ahLst/>
            <a:cxnLst/>
            <a:rect r="r" b="b" t="t" l="l"/>
            <a:pathLst>
              <a:path h="1010089" w="921936">
                <a:moveTo>
                  <a:pt x="0" y="0"/>
                </a:moveTo>
                <a:lnTo>
                  <a:pt x="921936" y="0"/>
                </a:lnTo>
                <a:lnTo>
                  <a:pt x="921936" y="1010088"/>
                </a:lnTo>
                <a:lnTo>
                  <a:pt x="0" y="1010088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564538" y="5660039"/>
            <a:ext cx="902812" cy="940429"/>
          </a:xfrm>
          <a:custGeom>
            <a:avLst/>
            <a:gdLst/>
            <a:ahLst/>
            <a:cxnLst/>
            <a:rect r="r" b="b" t="t" l="l"/>
            <a:pathLst>
              <a:path h="940429" w="902812">
                <a:moveTo>
                  <a:pt x="0" y="0"/>
                </a:moveTo>
                <a:lnTo>
                  <a:pt x="902812" y="0"/>
                </a:lnTo>
                <a:lnTo>
                  <a:pt x="902812" y="940428"/>
                </a:lnTo>
                <a:lnTo>
                  <a:pt x="0" y="940428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812527" y="4388586"/>
            <a:ext cx="945587" cy="940429"/>
          </a:xfrm>
          <a:custGeom>
            <a:avLst/>
            <a:gdLst/>
            <a:ahLst/>
            <a:cxnLst/>
            <a:rect r="r" b="b" t="t" l="l"/>
            <a:pathLst>
              <a:path h="940429" w="945587">
                <a:moveTo>
                  <a:pt x="0" y="0"/>
                </a:moveTo>
                <a:lnTo>
                  <a:pt x="945586" y="0"/>
                </a:lnTo>
                <a:lnTo>
                  <a:pt x="945586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275651" y="4361680"/>
            <a:ext cx="973648" cy="973648"/>
          </a:xfrm>
          <a:custGeom>
            <a:avLst/>
            <a:gdLst/>
            <a:ahLst/>
            <a:cxnLst/>
            <a:rect r="r" b="b" t="t" l="l"/>
            <a:pathLst>
              <a:path h="973648" w="973648">
                <a:moveTo>
                  <a:pt x="0" y="0"/>
                </a:moveTo>
                <a:lnTo>
                  <a:pt x="973648" y="0"/>
                </a:lnTo>
                <a:lnTo>
                  <a:pt x="973648" y="973649"/>
                </a:lnTo>
                <a:lnTo>
                  <a:pt x="0" y="973649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035873" y="4391915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683797" y="4392502"/>
            <a:ext cx="933589" cy="940429"/>
          </a:xfrm>
          <a:custGeom>
            <a:avLst/>
            <a:gdLst/>
            <a:ahLst/>
            <a:cxnLst/>
            <a:rect r="r" b="b" t="t" l="l"/>
            <a:pathLst>
              <a:path h="940429" w="933589">
                <a:moveTo>
                  <a:pt x="0" y="0"/>
                </a:moveTo>
                <a:lnTo>
                  <a:pt x="933590" y="0"/>
                </a:lnTo>
                <a:lnTo>
                  <a:pt x="933590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377211" y="4392111"/>
            <a:ext cx="940429" cy="940429"/>
          </a:xfrm>
          <a:custGeom>
            <a:avLst/>
            <a:gdLst/>
            <a:ahLst/>
            <a:cxnLst/>
            <a:rect r="r" b="b" t="t" l="l"/>
            <a:pathLst>
              <a:path h="940429" w="940429">
                <a:moveTo>
                  <a:pt x="0" y="0"/>
                </a:moveTo>
                <a:lnTo>
                  <a:pt x="940429" y="0"/>
                </a:lnTo>
                <a:lnTo>
                  <a:pt x="940429" y="940428"/>
                </a:lnTo>
                <a:lnTo>
                  <a:pt x="0" y="940428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965591" y="3229583"/>
            <a:ext cx="985211" cy="940429"/>
          </a:xfrm>
          <a:custGeom>
            <a:avLst/>
            <a:gdLst/>
            <a:ahLst/>
            <a:cxnLst/>
            <a:rect r="r" b="b" t="t" l="l"/>
            <a:pathLst>
              <a:path h="940429" w="985211">
                <a:moveTo>
                  <a:pt x="0" y="0"/>
                </a:moveTo>
                <a:lnTo>
                  <a:pt x="985211" y="0"/>
                </a:lnTo>
                <a:lnTo>
                  <a:pt x="985211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206485" y="3201698"/>
            <a:ext cx="1042814" cy="940429"/>
          </a:xfrm>
          <a:custGeom>
            <a:avLst/>
            <a:gdLst/>
            <a:ahLst/>
            <a:cxnLst/>
            <a:rect r="r" b="b" t="t" l="l"/>
            <a:pathLst>
              <a:path h="940429" w="1042814">
                <a:moveTo>
                  <a:pt x="0" y="0"/>
                </a:moveTo>
                <a:lnTo>
                  <a:pt x="1042814" y="0"/>
                </a:lnTo>
                <a:lnTo>
                  <a:pt x="1042814" y="940429"/>
                </a:lnTo>
                <a:lnTo>
                  <a:pt x="0" y="940429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2616802" y="1452021"/>
            <a:ext cx="13054396" cy="12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Página de Recursos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DAG3Hzwsgxw</dc:identifier>
  <dcterms:modified xsi:type="dcterms:W3CDTF">2011-08-01T06:04:30Z</dcterms:modified>
  <cp:revision>1</cp:revision>
  <dc:title>Presentación propuesta</dc:title>
</cp:coreProperties>
</file>